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6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4242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'Good afternoon Professor. I'm Swapnil, with Unnati. Our project uses machine learning to detect insider threats — employees who misuse their access to steal data. We'll walk through our approach, our models, and our validated results on real CERT data from Carnegie Mellon University.'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insider threat is when someone inside the company misuses their access to steal or leak data. They already have legitimate access, so normal security tools can't catch them. Our system learns each employee's normal pattern and raises an alarm when behaviour changes.'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use the CERT dataset from Carnegie Mellon — the standard benchmark. It has 1,000 employees over 18 months with 191 confirmed insiders. We extracted 7 real features from the logs — all real data, nothing synthetic — plus 7 delta features measuring change from each person's baseline.'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'We load 5 raw log files, engineer 14 features, run two unsupervised models to find anomalies, then a supervised Random Forest to classify, and finally validate against the real answer sheet. The delta features are our key idea — they measure change from each person's own baseline.'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'Both unsupervised models work without any labels. Isolation Forest isolates rare records; LOF finds records far from their neighbours. Both independently flagged about 2% — the agreement between two different methods gives us confidence.'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'By grouping flagged records by user, we found two threat types. Chronic threats are suspicious over hundreds of days — ongoing theft. Spike threats appear on just one or two days with extreme behaviour — a single big data grab. They need different investigation approaches.'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Random Forest achieved a ROC-AUC of 0.88 — strong performance. Precision of 0.95 means when it flags someone, it's right 95% of the time, with only 2 false alarms in 99,000 records. Recall of 0.31 means it catches about a third of threats — a deliberate trade-off favouring trustworthy alerts.'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validated against the real answer sheet. Random Forest correctly caught 70 of 191 confirmed insiders with only 2 false alarms. Crucially, we proved the model learns rather than copies — on hidden test data it scored 0.87, almost the same as training. If it were copying, it would fail on unseen data. This proves genuine learning.'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'Our feature importance analysis found USB file-copying is by far the strongest predictor, followed by its delta feature and file access. Four of the top five signals relate to file activity — which makes sense, because insider threats are fundamentally about stealing data. Notably, our engineered delta features rank very high, validating that design choice.'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'In summary — we built a working insider threat detection system on real CERT data with 7 real features. Our unsupervised models flag anomalies, our Random Forest classifies with 88% ROC-AUC and 95% precision, and we validated by catching 70 of 191 real insiders with only 2 false alarms. We proved the model genuinely learns. USB file-copying is the top threat signal.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7132320" y="-1097280"/>
            <a:ext cx="4114800" cy="4114800"/>
          </a:xfrm>
          <a:prstGeom prst="ellipse">
            <a:avLst/>
          </a:prstGeom>
          <a:solidFill>
            <a:srgbClr val="172448"/>
          </a:solidFill>
          <a:ln w="12700">
            <a:solidFill>
              <a:srgbClr val="172448"/>
            </a:solidFill>
            <a:prstDash val="solid"/>
          </a:ln>
        </p:spPr>
        <p:txBody>
          <a:bodyPr/>
          <a:lstStyle/>
          <a:p>
            <a:endParaRPr lang="en-IN"/>
          </a:p>
        </p:txBody>
      </p:sp>
      <p:sp>
        <p:nvSpPr>
          <p:cNvPr id="3" name="Shape 1"/>
          <p:cNvSpPr/>
          <p:nvPr/>
        </p:nvSpPr>
        <p:spPr>
          <a:xfrm>
            <a:off x="7589520" y="-640080"/>
            <a:ext cx="2926080" cy="2926080"/>
          </a:xfrm>
          <a:prstGeom prst="ellipse">
            <a:avLst/>
          </a:prstGeom>
          <a:solidFill>
            <a:srgbClr val="1B2A4A"/>
          </a:solidFill>
          <a:ln w="12700">
            <a:solidFill>
              <a:srgbClr val="1B2A4A"/>
            </a:solidFill>
            <a:prstDash val="solid"/>
          </a:ln>
        </p:spPr>
        <p:txBody>
          <a:bodyPr/>
          <a:lstStyle/>
          <a:p>
            <a:endParaRPr lang="en-IN"/>
          </a:p>
        </p:txBody>
      </p:sp>
      <p:sp>
        <p:nvSpPr>
          <p:cNvPr id="4" name="Text 2"/>
          <p:cNvSpPr/>
          <p:nvPr/>
        </p:nvSpPr>
        <p:spPr>
          <a:xfrm>
            <a:off x="457200" y="777240"/>
            <a:ext cx="8229600" cy="292608"/>
          </a:xfrm>
          <a:prstGeom prst="rect">
            <a:avLst/>
          </a:prstGeom>
          <a:noFill/>
          <a:ln/>
        </p:spPr>
        <p:txBody>
          <a:bodyPr wrap="square" lIns="0" tIns="0" rIns="0" bIns="0" rtlCol="0" anchor="ctr"/>
          <a:lstStyle/>
          <a:p>
            <a:pPr marL="0" indent="0">
              <a:buNone/>
            </a:pPr>
            <a:r>
              <a:rPr lang="en-US" sz="1100" b="1" kern="0" spc="300" dirty="0">
                <a:solidFill>
                  <a:srgbClr val="00B4D8"/>
                </a:solidFill>
                <a:latin typeface="Arial" pitchFamily="34" charset="0"/>
                <a:ea typeface="Arial" pitchFamily="34" charset="-122"/>
                <a:cs typeface="Arial" pitchFamily="34" charset="-120"/>
              </a:rPr>
              <a:t>MACHINE LEARNING PROJECT</a:t>
            </a:r>
            <a:endParaRPr lang="en-US" sz="1100" dirty="0"/>
          </a:p>
        </p:txBody>
      </p:sp>
      <p:sp>
        <p:nvSpPr>
          <p:cNvPr id="5" name="Text 3"/>
          <p:cNvSpPr/>
          <p:nvPr/>
        </p:nvSpPr>
        <p:spPr>
          <a:xfrm>
            <a:off x="457200" y="1143000"/>
            <a:ext cx="7863840" cy="1188720"/>
          </a:xfrm>
          <a:prstGeom prst="rect">
            <a:avLst/>
          </a:prstGeom>
          <a:noFill/>
          <a:ln/>
        </p:spPr>
        <p:txBody>
          <a:bodyPr wrap="square" lIns="0" tIns="0" rIns="0" bIns="0" rtlCol="0" anchor="ctr"/>
          <a:lstStyle/>
          <a:p>
            <a:pPr marL="0" indent="0">
              <a:buNone/>
            </a:pPr>
            <a:r>
              <a:rPr lang="en-US" sz="2900" b="1" dirty="0">
                <a:solidFill>
                  <a:srgbClr val="FFFFFF"/>
                </a:solidFill>
                <a:latin typeface="Arial" pitchFamily="34" charset="0"/>
                <a:ea typeface="Arial" pitchFamily="34" charset="-122"/>
                <a:cs typeface="Arial" pitchFamily="34" charset="-120"/>
              </a:rPr>
              <a:t>User and Entity Behaviour Analytics (UEBA)</a:t>
            </a:r>
            <a:endParaRPr lang="en-US" sz="2900" dirty="0"/>
          </a:p>
          <a:p>
            <a:pPr marL="0" indent="0">
              <a:buNone/>
            </a:pPr>
            <a:r>
              <a:rPr lang="en-US" sz="2900" b="1" dirty="0">
                <a:solidFill>
                  <a:srgbClr val="FFFFFF"/>
                </a:solidFill>
                <a:latin typeface="Arial" pitchFamily="34" charset="0"/>
                <a:ea typeface="Arial" pitchFamily="34" charset="-122"/>
                <a:cs typeface="Arial" pitchFamily="34" charset="-120"/>
              </a:rPr>
              <a:t>for Insider Threat Detection</a:t>
            </a:r>
            <a:endParaRPr lang="en-US" sz="2900" dirty="0"/>
          </a:p>
        </p:txBody>
      </p:sp>
      <p:sp>
        <p:nvSpPr>
          <p:cNvPr id="6" name="Text 4"/>
          <p:cNvSpPr/>
          <p:nvPr/>
        </p:nvSpPr>
        <p:spPr>
          <a:xfrm>
            <a:off x="457200" y="2468880"/>
            <a:ext cx="7863840" cy="685800"/>
          </a:xfrm>
          <a:prstGeom prst="rect">
            <a:avLst/>
          </a:prstGeom>
          <a:noFill/>
          <a:ln/>
        </p:spPr>
        <p:txBody>
          <a:bodyPr wrap="square" lIns="0" tIns="0" rIns="0" bIns="0" rtlCol="0" anchor="ctr"/>
          <a:lstStyle/>
          <a:p>
            <a:pPr marL="0" indent="0">
              <a:buNone/>
            </a:pPr>
            <a:r>
              <a:rPr lang="en-US" sz="1400" dirty="0">
                <a:solidFill>
                  <a:srgbClr val="8BAFD4"/>
                </a:solidFill>
                <a:latin typeface="Arial" pitchFamily="34" charset="0"/>
                <a:ea typeface="Arial" pitchFamily="34" charset="-122"/>
                <a:cs typeface="Arial" pitchFamily="34" charset="-120"/>
              </a:rPr>
              <a:t>Isolation Forest · Local Outlier Factor · Random Forest</a:t>
            </a:r>
            <a:endParaRPr lang="en-US" sz="1400" dirty="0"/>
          </a:p>
          <a:p>
            <a:pPr marL="0" indent="0">
              <a:buNone/>
            </a:pPr>
            <a:r>
              <a:rPr lang="en-US" sz="1400" dirty="0">
                <a:solidFill>
                  <a:srgbClr val="8BAFD4"/>
                </a:solidFill>
                <a:latin typeface="Arial" pitchFamily="34" charset="0"/>
                <a:ea typeface="Arial" pitchFamily="34" charset="-122"/>
                <a:cs typeface="Arial" pitchFamily="34" charset="-120"/>
              </a:rPr>
              <a:t>CERT Insider Threat Dataset r4.2 — Carnegie Mellon University</a:t>
            </a:r>
            <a:endParaRPr lang="en-US" sz="1400" dirty="0"/>
          </a:p>
        </p:txBody>
      </p:sp>
      <p:sp>
        <p:nvSpPr>
          <p:cNvPr id="7" name="Shape 5"/>
          <p:cNvSpPr/>
          <p:nvPr/>
        </p:nvSpPr>
        <p:spPr>
          <a:xfrm>
            <a:off x="457200" y="3310128"/>
            <a:ext cx="8229600" cy="27432"/>
          </a:xfrm>
          <a:prstGeom prst="rect">
            <a:avLst/>
          </a:prstGeom>
          <a:solidFill>
            <a:srgbClr val="2A4A6B"/>
          </a:solidFill>
          <a:ln/>
        </p:spPr>
        <p:txBody>
          <a:bodyPr/>
          <a:lstStyle/>
          <a:p>
            <a:endParaRPr lang="en-IN"/>
          </a:p>
        </p:txBody>
      </p:sp>
      <p:sp>
        <p:nvSpPr>
          <p:cNvPr id="8" name="Text 6"/>
          <p:cNvSpPr/>
          <p:nvPr/>
        </p:nvSpPr>
        <p:spPr>
          <a:xfrm>
            <a:off x="457200" y="3429000"/>
            <a:ext cx="5486400" cy="320040"/>
          </a:xfrm>
          <a:prstGeom prst="rect">
            <a:avLst/>
          </a:prstGeom>
          <a:noFill/>
          <a:ln/>
        </p:spPr>
        <p:txBody>
          <a:bodyPr wrap="square" lIns="0" tIns="0" rIns="0" bIns="0" rtlCol="0" anchor="ctr"/>
          <a:lstStyle/>
          <a:p>
            <a:pPr marL="0" indent="0">
              <a:buNone/>
            </a:pPr>
            <a:r>
              <a:rPr lang="en-US" sz="1300" dirty="0">
                <a:solidFill>
                  <a:srgbClr val="8BAFD4"/>
                </a:solidFill>
                <a:latin typeface="Arial" pitchFamily="34" charset="0"/>
                <a:ea typeface="Arial" pitchFamily="34" charset="-122"/>
                <a:cs typeface="Arial" pitchFamily="34" charset="-120"/>
              </a:rPr>
              <a:t>Swapnil Gawade  ·  Unnati Patil</a:t>
            </a:r>
            <a:endParaRPr lang="en-US" sz="1300" dirty="0"/>
          </a:p>
        </p:txBody>
      </p:sp>
      <p:sp>
        <p:nvSpPr>
          <p:cNvPr id="9" name="Text 7"/>
          <p:cNvSpPr/>
          <p:nvPr/>
        </p:nvSpPr>
        <p:spPr>
          <a:xfrm>
            <a:off x="457200" y="3749040"/>
            <a:ext cx="5486400" cy="292608"/>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Master's in Cybersecurity  ·  10</a:t>
            </a:r>
            <a:r>
              <a:rPr lang="en-US" sz="1100" baseline="30000" dirty="0">
                <a:solidFill>
                  <a:srgbClr val="64748B"/>
                </a:solidFill>
                <a:latin typeface="Arial" pitchFamily="34" charset="0"/>
                <a:ea typeface="Arial" pitchFamily="34" charset="-122"/>
                <a:cs typeface="Arial" pitchFamily="34" charset="-120"/>
              </a:rPr>
              <a:t>th</a:t>
            </a:r>
            <a:r>
              <a:rPr lang="en-US" sz="1100" dirty="0">
                <a:solidFill>
                  <a:srgbClr val="64748B"/>
                </a:solidFill>
                <a:latin typeface="Arial" pitchFamily="34" charset="0"/>
                <a:ea typeface="Arial" pitchFamily="34" charset="-122"/>
                <a:cs typeface="Arial" pitchFamily="34" charset="-120"/>
              </a:rPr>
              <a:t>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256032"/>
            <a:ext cx="2743200" cy="274320"/>
          </a:xfrm>
          <a:prstGeom prst="rect">
            <a:avLst/>
          </a:prstGeom>
          <a:solidFill>
            <a:srgbClr val="0D1B2A"/>
          </a:solidFill>
          <a:ln/>
        </p:spPr>
        <p:txBody>
          <a:bodyPr/>
          <a:lstStyle/>
          <a:p>
            <a:endParaRPr lang="en-IN"/>
          </a:p>
        </p:txBody>
      </p:sp>
      <p:sp>
        <p:nvSpPr>
          <p:cNvPr id="3" name="Text 1"/>
          <p:cNvSpPr/>
          <p:nvPr/>
        </p:nvSpPr>
        <p:spPr>
          <a:xfrm>
            <a:off x="457200" y="256032"/>
            <a:ext cx="2743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THE PROBLEM</a:t>
            </a:r>
            <a:endParaRPr lang="en-US" sz="100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marL="0" indent="0">
              <a:buNone/>
            </a:pPr>
            <a:r>
              <a:rPr lang="en-US" sz="2700" b="1" dirty="0">
                <a:solidFill>
                  <a:srgbClr val="0D1B2A"/>
                </a:solidFill>
                <a:latin typeface="Arial" pitchFamily="34" charset="0"/>
                <a:ea typeface="Arial" pitchFamily="34" charset="-122"/>
                <a:cs typeface="Arial" pitchFamily="34" charset="-120"/>
              </a:rPr>
              <a:t>What is an Insider Threat?</a:t>
            </a:r>
            <a:endParaRPr lang="en-US" sz="2700" dirty="0"/>
          </a:p>
        </p:txBody>
      </p:sp>
      <p:sp>
        <p:nvSpPr>
          <p:cNvPr id="5" name="Text 3"/>
          <p:cNvSpPr/>
          <p:nvPr/>
        </p:nvSpPr>
        <p:spPr>
          <a:xfrm>
            <a:off x="457200" y="1133856"/>
            <a:ext cx="8229600" cy="292608"/>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Malicious actions by employees who already have legitimate access</a:t>
            </a:r>
            <a:endParaRPr lang="en-US" sz="1300" dirty="0"/>
          </a:p>
        </p:txBody>
      </p:sp>
      <p:sp>
        <p:nvSpPr>
          <p:cNvPr id="6" name="Shape 4"/>
          <p:cNvSpPr/>
          <p:nvPr/>
        </p:nvSpPr>
        <p:spPr>
          <a:xfrm>
            <a:off x="457200" y="1444752"/>
            <a:ext cx="5029200" cy="329184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7" name="Text 5"/>
          <p:cNvSpPr/>
          <p:nvPr/>
        </p:nvSpPr>
        <p:spPr>
          <a:xfrm>
            <a:off x="640080" y="1591056"/>
            <a:ext cx="4572000" cy="320040"/>
          </a:xfrm>
          <a:prstGeom prst="rect">
            <a:avLst/>
          </a:prstGeom>
          <a:noFill/>
          <a:ln/>
        </p:spPr>
        <p:txBody>
          <a:bodyPr wrap="square" lIns="0" tIns="0" rIns="0" bIns="0" rtlCol="0" anchor="ctr"/>
          <a:lstStyle/>
          <a:p>
            <a:pPr marL="0" indent="0">
              <a:buNone/>
            </a:pPr>
            <a:r>
              <a:rPr lang="en-US" sz="1400" b="1" dirty="0">
                <a:solidFill>
                  <a:srgbClr val="0D1B2A"/>
                </a:solidFill>
                <a:latin typeface="Arial" pitchFamily="34" charset="0"/>
                <a:ea typeface="Arial" pitchFamily="34" charset="-122"/>
                <a:cs typeface="Arial" pitchFamily="34" charset="-120"/>
              </a:rPr>
              <a:t>Why is it hard to detect?</a:t>
            </a:r>
            <a:endParaRPr lang="en-US" sz="1400" dirty="0"/>
          </a:p>
        </p:txBody>
      </p:sp>
      <p:sp>
        <p:nvSpPr>
          <p:cNvPr id="8" name="Text 6"/>
          <p:cNvSpPr/>
          <p:nvPr/>
        </p:nvSpPr>
        <p:spPr>
          <a:xfrm>
            <a:off x="640080" y="1965960"/>
            <a:ext cx="4663440" cy="2560320"/>
          </a:xfrm>
          <a:prstGeom prst="rect">
            <a:avLst/>
          </a:prstGeom>
          <a:noFill/>
          <a:ln/>
        </p:spPr>
        <p:txBody>
          <a:bodyPr wrap="square" lIns="0" tIns="0" rIns="0" bIns="0" rtlCol="0" anchor="ctr"/>
          <a:lstStyle/>
          <a:p>
            <a:pPr marL="0" indent="0">
              <a:lnSpc>
                <a:spcPct val="150000"/>
              </a:lnSpc>
              <a:buNone/>
            </a:pPr>
            <a:r>
              <a:rPr lang="en-US" sz="1300" dirty="0">
                <a:solidFill>
                  <a:srgbClr val="1E293B"/>
                </a:solidFill>
                <a:latin typeface="Arial" pitchFamily="34" charset="0"/>
                <a:ea typeface="Arial" pitchFamily="34" charset="-122"/>
                <a:cs typeface="Arial" pitchFamily="34" charset="-120"/>
              </a:rPr>
              <a:t>Insiders use valid credentials — they look normal.</a:t>
            </a:r>
            <a:endParaRPr lang="en-US" sz="1300" dirty="0"/>
          </a:p>
          <a:p>
            <a:pPr marL="0" indent="0">
              <a:lnSpc>
                <a:spcPct val="150000"/>
              </a:lnSpc>
              <a:buNone/>
            </a:pPr>
            <a:r>
              <a:rPr lang="en-US" sz="1300" dirty="0">
                <a:solidFill>
                  <a:srgbClr val="1E293B"/>
                </a:solidFill>
                <a:latin typeface="Arial" pitchFamily="34" charset="0"/>
                <a:ea typeface="Arial" pitchFamily="34" charset="-122"/>
                <a:cs typeface="Arial" pitchFamily="34" charset="-120"/>
              </a:rPr>
              <a:t> </a:t>
            </a:r>
            <a:endParaRPr lang="en-US" sz="1300" dirty="0"/>
          </a:p>
          <a:p>
            <a:pPr marL="0" indent="0">
              <a:lnSpc>
                <a:spcPct val="150000"/>
              </a:lnSpc>
              <a:buNone/>
            </a:pPr>
            <a:r>
              <a:rPr lang="en-US" sz="1300" dirty="0">
                <a:solidFill>
                  <a:srgbClr val="1E293B"/>
                </a:solidFill>
                <a:latin typeface="Arial" pitchFamily="34" charset="0"/>
                <a:ea typeface="Arial" pitchFamily="34" charset="-122"/>
                <a:cs typeface="Arial" pitchFamily="34" charset="-120"/>
              </a:rPr>
              <a:t>Firewalls &amp; antivirus only stop EXTERNAL attacks.</a:t>
            </a:r>
            <a:endParaRPr lang="en-US" sz="1300" dirty="0"/>
          </a:p>
          <a:p>
            <a:pPr marL="0" indent="0">
              <a:lnSpc>
                <a:spcPct val="150000"/>
              </a:lnSpc>
              <a:buNone/>
            </a:pPr>
            <a:r>
              <a:rPr lang="en-US" sz="1300" dirty="0">
                <a:solidFill>
                  <a:srgbClr val="1E293B"/>
                </a:solidFill>
                <a:latin typeface="Arial" pitchFamily="34" charset="0"/>
                <a:ea typeface="Arial" pitchFamily="34" charset="-122"/>
                <a:cs typeface="Arial" pitchFamily="34" charset="-120"/>
              </a:rPr>
              <a:t> </a:t>
            </a:r>
            <a:endParaRPr lang="en-US" sz="1300" dirty="0"/>
          </a:p>
          <a:p>
            <a:pPr marL="0" indent="0">
              <a:lnSpc>
                <a:spcPct val="150000"/>
              </a:lnSpc>
              <a:buNone/>
            </a:pPr>
            <a:r>
              <a:rPr lang="en-US" sz="1300" dirty="0">
                <a:solidFill>
                  <a:srgbClr val="1E293B"/>
                </a:solidFill>
                <a:latin typeface="Arial" pitchFamily="34" charset="0"/>
                <a:ea typeface="Arial" pitchFamily="34" charset="-122"/>
                <a:cs typeface="Arial" pitchFamily="34" charset="-120"/>
              </a:rPr>
              <a:t>You can't manually watch 1,000+ employees daily.</a:t>
            </a:r>
            <a:endParaRPr lang="en-US" sz="1300" dirty="0"/>
          </a:p>
          <a:p>
            <a:pPr marL="0" indent="0">
              <a:lnSpc>
                <a:spcPct val="150000"/>
              </a:lnSpc>
              <a:buNone/>
            </a:pPr>
            <a:r>
              <a:rPr lang="en-US" sz="1300" dirty="0">
                <a:solidFill>
                  <a:srgbClr val="1E293B"/>
                </a:solidFill>
                <a:latin typeface="Arial" pitchFamily="34" charset="0"/>
                <a:ea typeface="Arial" pitchFamily="34" charset="-122"/>
                <a:cs typeface="Arial" pitchFamily="34" charset="-120"/>
              </a:rPr>
              <a:t> </a:t>
            </a:r>
            <a:endParaRPr lang="en-US" sz="1300" dirty="0"/>
          </a:p>
          <a:p>
            <a:pPr marL="0" indent="0">
              <a:lnSpc>
                <a:spcPct val="150000"/>
              </a:lnSpc>
              <a:buNone/>
            </a:pPr>
            <a:r>
              <a:rPr lang="en-US" sz="1300" dirty="0">
                <a:solidFill>
                  <a:srgbClr val="1E293B"/>
                </a:solidFill>
                <a:latin typeface="Arial" pitchFamily="34" charset="0"/>
                <a:ea typeface="Arial" pitchFamily="34" charset="-122"/>
                <a:cs typeface="Arial" pitchFamily="34" charset="-120"/>
              </a:rPr>
              <a:t>We need an automated system that learns normal behaviour and flags deviations.</a:t>
            </a:r>
            <a:endParaRPr lang="en-US" sz="1300" dirty="0"/>
          </a:p>
        </p:txBody>
      </p:sp>
      <p:sp>
        <p:nvSpPr>
          <p:cNvPr id="9" name="Shape 7"/>
          <p:cNvSpPr/>
          <p:nvPr/>
        </p:nvSpPr>
        <p:spPr>
          <a:xfrm>
            <a:off x="5760720" y="1444752"/>
            <a:ext cx="2926080" cy="96012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0" name="Shape 8"/>
          <p:cNvSpPr/>
          <p:nvPr/>
        </p:nvSpPr>
        <p:spPr>
          <a:xfrm>
            <a:off x="5760720" y="1444752"/>
            <a:ext cx="2926080" cy="54864"/>
          </a:xfrm>
          <a:prstGeom prst="rect">
            <a:avLst/>
          </a:prstGeom>
          <a:solidFill>
            <a:srgbClr val="00B4D8"/>
          </a:solidFill>
          <a:ln/>
        </p:spPr>
        <p:txBody>
          <a:bodyPr/>
          <a:lstStyle/>
          <a:p>
            <a:endParaRPr lang="en-IN"/>
          </a:p>
        </p:txBody>
      </p:sp>
      <p:sp>
        <p:nvSpPr>
          <p:cNvPr id="11" name="Text 9"/>
          <p:cNvSpPr/>
          <p:nvPr/>
        </p:nvSpPr>
        <p:spPr>
          <a:xfrm>
            <a:off x="5760720" y="1591056"/>
            <a:ext cx="292608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34%</a:t>
            </a:r>
            <a:endParaRPr lang="en-US" sz="3000" dirty="0"/>
          </a:p>
        </p:txBody>
      </p:sp>
      <p:sp>
        <p:nvSpPr>
          <p:cNvPr id="12" name="Text 10"/>
          <p:cNvSpPr/>
          <p:nvPr/>
        </p:nvSpPr>
        <p:spPr>
          <a:xfrm>
            <a:off x="5760720" y="2121408"/>
            <a:ext cx="2926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of breaches involve insiders</a:t>
            </a:r>
            <a:endParaRPr lang="en-US" sz="1100" dirty="0"/>
          </a:p>
        </p:txBody>
      </p:sp>
      <p:sp>
        <p:nvSpPr>
          <p:cNvPr id="13" name="Shape 11"/>
          <p:cNvSpPr/>
          <p:nvPr/>
        </p:nvSpPr>
        <p:spPr>
          <a:xfrm>
            <a:off x="5760720" y="2560320"/>
            <a:ext cx="2926080" cy="96012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4" name="Shape 12"/>
          <p:cNvSpPr/>
          <p:nvPr/>
        </p:nvSpPr>
        <p:spPr>
          <a:xfrm>
            <a:off x="5760720" y="2560320"/>
            <a:ext cx="2926080" cy="54864"/>
          </a:xfrm>
          <a:prstGeom prst="rect">
            <a:avLst/>
          </a:prstGeom>
          <a:solidFill>
            <a:srgbClr val="F59E0B"/>
          </a:solidFill>
          <a:ln/>
        </p:spPr>
        <p:txBody>
          <a:bodyPr/>
          <a:lstStyle/>
          <a:p>
            <a:endParaRPr lang="en-IN"/>
          </a:p>
        </p:txBody>
      </p:sp>
      <p:sp>
        <p:nvSpPr>
          <p:cNvPr id="15" name="Text 13"/>
          <p:cNvSpPr/>
          <p:nvPr/>
        </p:nvSpPr>
        <p:spPr>
          <a:xfrm>
            <a:off x="5760720" y="2706624"/>
            <a:ext cx="292608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77</a:t>
            </a:r>
            <a:endParaRPr lang="en-US" sz="3000" dirty="0"/>
          </a:p>
        </p:txBody>
      </p:sp>
      <p:sp>
        <p:nvSpPr>
          <p:cNvPr id="16" name="Text 14"/>
          <p:cNvSpPr/>
          <p:nvPr/>
        </p:nvSpPr>
        <p:spPr>
          <a:xfrm>
            <a:off x="5760720" y="3236976"/>
            <a:ext cx="2926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days average to detect</a:t>
            </a:r>
            <a:endParaRPr lang="en-US" sz="1100" dirty="0"/>
          </a:p>
        </p:txBody>
      </p:sp>
      <p:sp>
        <p:nvSpPr>
          <p:cNvPr id="17" name="Shape 15"/>
          <p:cNvSpPr/>
          <p:nvPr/>
        </p:nvSpPr>
        <p:spPr>
          <a:xfrm>
            <a:off x="5760720" y="3675888"/>
            <a:ext cx="2926080" cy="96012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8" name="Shape 16"/>
          <p:cNvSpPr/>
          <p:nvPr/>
        </p:nvSpPr>
        <p:spPr>
          <a:xfrm>
            <a:off x="5760720" y="3675888"/>
            <a:ext cx="2926080" cy="54864"/>
          </a:xfrm>
          <a:prstGeom prst="rect">
            <a:avLst/>
          </a:prstGeom>
          <a:solidFill>
            <a:srgbClr val="EF4444"/>
          </a:solidFill>
          <a:ln/>
        </p:spPr>
        <p:txBody>
          <a:bodyPr/>
          <a:lstStyle/>
          <a:p>
            <a:endParaRPr lang="en-IN"/>
          </a:p>
        </p:txBody>
      </p:sp>
      <p:sp>
        <p:nvSpPr>
          <p:cNvPr id="19" name="Text 17"/>
          <p:cNvSpPr/>
          <p:nvPr/>
        </p:nvSpPr>
        <p:spPr>
          <a:xfrm>
            <a:off x="5760720" y="3822192"/>
            <a:ext cx="292608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1,000</a:t>
            </a:r>
            <a:endParaRPr lang="en-US" sz="3000" dirty="0"/>
          </a:p>
        </p:txBody>
      </p:sp>
      <p:sp>
        <p:nvSpPr>
          <p:cNvPr id="20" name="Text 18"/>
          <p:cNvSpPr/>
          <p:nvPr/>
        </p:nvSpPr>
        <p:spPr>
          <a:xfrm>
            <a:off x="5760720" y="4352544"/>
            <a:ext cx="292608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employees to monitor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256032"/>
            <a:ext cx="2743200" cy="274320"/>
          </a:xfrm>
          <a:prstGeom prst="rect">
            <a:avLst/>
          </a:prstGeom>
          <a:solidFill>
            <a:srgbClr val="1B2A4A"/>
          </a:solidFill>
          <a:ln/>
        </p:spPr>
        <p:txBody>
          <a:bodyPr/>
          <a:lstStyle/>
          <a:p>
            <a:endParaRPr lang="en-IN"/>
          </a:p>
        </p:txBody>
      </p:sp>
      <p:sp>
        <p:nvSpPr>
          <p:cNvPr id="3" name="Text 1"/>
          <p:cNvSpPr/>
          <p:nvPr/>
        </p:nvSpPr>
        <p:spPr>
          <a:xfrm>
            <a:off x="457200" y="256032"/>
            <a:ext cx="2743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DATASET</a:t>
            </a:r>
            <a:endParaRPr lang="en-US" sz="100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marL="0" indent="0">
              <a:buNone/>
            </a:pPr>
            <a:r>
              <a:rPr lang="en-US" sz="2700" b="1" dirty="0">
                <a:solidFill>
                  <a:srgbClr val="0D1B2A"/>
                </a:solidFill>
                <a:latin typeface="Arial" pitchFamily="34" charset="0"/>
                <a:ea typeface="Arial" pitchFamily="34" charset="-122"/>
                <a:cs typeface="Arial" pitchFamily="34" charset="-120"/>
              </a:rPr>
              <a:t>CERT Insider Threat Dataset r4.2</a:t>
            </a:r>
            <a:endParaRPr lang="en-US" sz="2700" dirty="0"/>
          </a:p>
        </p:txBody>
      </p:sp>
      <p:sp>
        <p:nvSpPr>
          <p:cNvPr id="5" name="Text 3"/>
          <p:cNvSpPr/>
          <p:nvPr/>
        </p:nvSpPr>
        <p:spPr>
          <a:xfrm>
            <a:off x="457200" y="1133856"/>
            <a:ext cx="8229600" cy="292608"/>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Carnegie Mellon University — the standard benchmark for insider threat research</a:t>
            </a:r>
            <a:endParaRPr lang="en-US" sz="1300" dirty="0"/>
          </a:p>
        </p:txBody>
      </p:sp>
      <p:sp>
        <p:nvSpPr>
          <p:cNvPr id="6" name="Shape 4"/>
          <p:cNvSpPr/>
          <p:nvPr/>
        </p:nvSpPr>
        <p:spPr>
          <a:xfrm>
            <a:off x="457200" y="141732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7" name="Shape 5"/>
          <p:cNvSpPr/>
          <p:nvPr/>
        </p:nvSpPr>
        <p:spPr>
          <a:xfrm>
            <a:off x="457200" y="1417320"/>
            <a:ext cx="1920240" cy="54864"/>
          </a:xfrm>
          <a:prstGeom prst="rect">
            <a:avLst/>
          </a:prstGeom>
          <a:solidFill>
            <a:srgbClr val="00B4D8"/>
          </a:solidFill>
          <a:ln/>
        </p:spPr>
        <p:txBody>
          <a:bodyPr/>
          <a:lstStyle/>
          <a:p>
            <a:endParaRPr lang="en-IN"/>
          </a:p>
        </p:txBody>
      </p:sp>
      <p:sp>
        <p:nvSpPr>
          <p:cNvPr id="8" name="Text 6"/>
          <p:cNvSpPr/>
          <p:nvPr/>
        </p:nvSpPr>
        <p:spPr>
          <a:xfrm>
            <a:off x="457200" y="156362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1,000</a:t>
            </a:r>
            <a:endParaRPr lang="en-US" sz="3000" dirty="0"/>
          </a:p>
        </p:txBody>
      </p:sp>
      <p:sp>
        <p:nvSpPr>
          <p:cNvPr id="9" name="Text 7"/>
          <p:cNvSpPr/>
          <p:nvPr/>
        </p:nvSpPr>
        <p:spPr>
          <a:xfrm>
            <a:off x="457200" y="209397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Employees</a:t>
            </a:r>
            <a:endParaRPr lang="en-US" sz="1100" dirty="0"/>
          </a:p>
        </p:txBody>
      </p:sp>
      <p:sp>
        <p:nvSpPr>
          <p:cNvPr id="10" name="Shape 8"/>
          <p:cNvSpPr/>
          <p:nvPr/>
        </p:nvSpPr>
        <p:spPr>
          <a:xfrm>
            <a:off x="2633472" y="141732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1" name="Shape 9"/>
          <p:cNvSpPr/>
          <p:nvPr/>
        </p:nvSpPr>
        <p:spPr>
          <a:xfrm>
            <a:off x="2633472" y="1417320"/>
            <a:ext cx="1920240" cy="54864"/>
          </a:xfrm>
          <a:prstGeom prst="rect">
            <a:avLst/>
          </a:prstGeom>
          <a:solidFill>
            <a:srgbClr val="0D1B2A"/>
          </a:solidFill>
          <a:ln/>
        </p:spPr>
        <p:txBody>
          <a:bodyPr/>
          <a:lstStyle/>
          <a:p>
            <a:endParaRPr lang="en-IN"/>
          </a:p>
        </p:txBody>
      </p:sp>
      <p:sp>
        <p:nvSpPr>
          <p:cNvPr id="12" name="Text 10"/>
          <p:cNvSpPr/>
          <p:nvPr/>
        </p:nvSpPr>
        <p:spPr>
          <a:xfrm>
            <a:off x="2633472" y="156362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330K</a:t>
            </a:r>
            <a:endParaRPr lang="en-US" sz="3000" dirty="0"/>
          </a:p>
        </p:txBody>
      </p:sp>
      <p:sp>
        <p:nvSpPr>
          <p:cNvPr id="13" name="Text 11"/>
          <p:cNvSpPr/>
          <p:nvPr/>
        </p:nvSpPr>
        <p:spPr>
          <a:xfrm>
            <a:off x="2633472" y="209397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User-Day Records</a:t>
            </a:r>
            <a:endParaRPr lang="en-US" sz="1100" dirty="0"/>
          </a:p>
        </p:txBody>
      </p:sp>
      <p:sp>
        <p:nvSpPr>
          <p:cNvPr id="14" name="Shape 12"/>
          <p:cNvSpPr/>
          <p:nvPr/>
        </p:nvSpPr>
        <p:spPr>
          <a:xfrm>
            <a:off x="4809744" y="141732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5" name="Shape 13"/>
          <p:cNvSpPr/>
          <p:nvPr/>
        </p:nvSpPr>
        <p:spPr>
          <a:xfrm>
            <a:off x="4809744" y="1417320"/>
            <a:ext cx="1920240" cy="54864"/>
          </a:xfrm>
          <a:prstGeom prst="rect">
            <a:avLst/>
          </a:prstGeom>
          <a:solidFill>
            <a:srgbClr val="F59E0B"/>
          </a:solidFill>
          <a:ln/>
        </p:spPr>
        <p:txBody>
          <a:bodyPr/>
          <a:lstStyle/>
          <a:p>
            <a:endParaRPr lang="en-IN"/>
          </a:p>
        </p:txBody>
      </p:sp>
      <p:sp>
        <p:nvSpPr>
          <p:cNvPr id="16" name="Text 14"/>
          <p:cNvSpPr/>
          <p:nvPr/>
        </p:nvSpPr>
        <p:spPr>
          <a:xfrm>
            <a:off x="4809744" y="156362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18mo</a:t>
            </a:r>
            <a:endParaRPr lang="en-US" sz="3000" dirty="0"/>
          </a:p>
        </p:txBody>
      </p:sp>
      <p:sp>
        <p:nvSpPr>
          <p:cNvPr id="17" name="Text 15"/>
          <p:cNvSpPr/>
          <p:nvPr/>
        </p:nvSpPr>
        <p:spPr>
          <a:xfrm>
            <a:off x="4809744" y="209397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Time Span</a:t>
            </a:r>
            <a:endParaRPr lang="en-US" sz="1100" dirty="0"/>
          </a:p>
        </p:txBody>
      </p:sp>
      <p:sp>
        <p:nvSpPr>
          <p:cNvPr id="18" name="Shape 16"/>
          <p:cNvSpPr/>
          <p:nvPr/>
        </p:nvSpPr>
        <p:spPr>
          <a:xfrm>
            <a:off x="6986016" y="141732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9" name="Shape 17"/>
          <p:cNvSpPr/>
          <p:nvPr/>
        </p:nvSpPr>
        <p:spPr>
          <a:xfrm>
            <a:off x="6986016" y="1417320"/>
            <a:ext cx="1920240" cy="54864"/>
          </a:xfrm>
          <a:prstGeom prst="rect">
            <a:avLst/>
          </a:prstGeom>
          <a:solidFill>
            <a:srgbClr val="10B981"/>
          </a:solidFill>
          <a:ln/>
        </p:spPr>
        <p:txBody>
          <a:bodyPr/>
          <a:lstStyle/>
          <a:p>
            <a:endParaRPr lang="en-IN"/>
          </a:p>
        </p:txBody>
      </p:sp>
      <p:sp>
        <p:nvSpPr>
          <p:cNvPr id="20" name="Text 18"/>
          <p:cNvSpPr/>
          <p:nvPr/>
        </p:nvSpPr>
        <p:spPr>
          <a:xfrm>
            <a:off x="6986016" y="156362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191</a:t>
            </a:r>
            <a:endParaRPr lang="en-US" sz="3000" dirty="0"/>
          </a:p>
        </p:txBody>
      </p:sp>
      <p:sp>
        <p:nvSpPr>
          <p:cNvPr id="21" name="Text 19"/>
          <p:cNvSpPr/>
          <p:nvPr/>
        </p:nvSpPr>
        <p:spPr>
          <a:xfrm>
            <a:off x="6986016" y="209397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Confirmed Insiders</a:t>
            </a:r>
            <a:endParaRPr lang="en-US" sz="1100" dirty="0"/>
          </a:p>
        </p:txBody>
      </p:sp>
      <p:sp>
        <p:nvSpPr>
          <p:cNvPr id="22" name="Shape 20"/>
          <p:cNvSpPr/>
          <p:nvPr/>
        </p:nvSpPr>
        <p:spPr>
          <a:xfrm>
            <a:off x="457200" y="2670048"/>
            <a:ext cx="8229600" cy="2194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23" name="Text 21"/>
          <p:cNvSpPr/>
          <p:nvPr/>
        </p:nvSpPr>
        <p:spPr>
          <a:xfrm>
            <a:off x="640080" y="2761488"/>
            <a:ext cx="7772400" cy="320040"/>
          </a:xfrm>
          <a:prstGeom prst="rect">
            <a:avLst/>
          </a:prstGeom>
          <a:noFill/>
          <a:ln/>
        </p:spPr>
        <p:txBody>
          <a:bodyPr wrap="square" lIns="0" tIns="0" rIns="0" bIns="0" rtlCol="0" anchor="ctr"/>
          <a:lstStyle/>
          <a:p>
            <a:pPr marL="0" indent="0">
              <a:buNone/>
            </a:pPr>
            <a:r>
              <a:rPr lang="en-US" sz="1300" b="1" dirty="0">
                <a:solidFill>
                  <a:srgbClr val="0D1B2A"/>
                </a:solidFill>
                <a:latin typeface="Arial" pitchFamily="34" charset="0"/>
                <a:ea typeface="Arial" pitchFamily="34" charset="-122"/>
                <a:cs typeface="Arial" pitchFamily="34" charset="-120"/>
              </a:rPr>
              <a:t>7 Real Features Extracted (Zero Synthetic Data)</a:t>
            </a:r>
            <a:endParaRPr lang="en-US" sz="1300" dirty="0"/>
          </a:p>
        </p:txBody>
      </p:sp>
      <p:sp>
        <p:nvSpPr>
          <p:cNvPr id="24" name="Shape 22"/>
          <p:cNvSpPr/>
          <p:nvPr/>
        </p:nvSpPr>
        <p:spPr>
          <a:xfrm>
            <a:off x="640080" y="3246120"/>
            <a:ext cx="128016" cy="128016"/>
          </a:xfrm>
          <a:prstGeom prst="ellipse">
            <a:avLst/>
          </a:prstGeom>
          <a:solidFill>
            <a:srgbClr val="00B4D8"/>
          </a:solidFill>
          <a:ln/>
        </p:spPr>
        <p:txBody>
          <a:bodyPr/>
          <a:lstStyle/>
          <a:p>
            <a:endParaRPr lang="en-IN"/>
          </a:p>
        </p:txBody>
      </p:sp>
      <p:sp>
        <p:nvSpPr>
          <p:cNvPr id="25" name="Text 23"/>
          <p:cNvSpPr/>
          <p:nvPr/>
        </p:nvSpPr>
        <p:spPr>
          <a:xfrm>
            <a:off x="841248" y="3154680"/>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login_count</a:t>
            </a:r>
            <a:endParaRPr lang="en-US" sz="1100" dirty="0"/>
          </a:p>
        </p:txBody>
      </p:sp>
      <p:sp>
        <p:nvSpPr>
          <p:cNvPr id="26" name="Text 24"/>
          <p:cNvSpPr/>
          <p:nvPr/>
        </p:nvSpPr>
        <p:spPr>
          <a:xfrm>
            <a:off x="2514600" y="3154680"/>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Daily logins</a:t>
            </a:r>
            <a:endParaRPr lang="en-US" sz="1100" dirty="0"/>
          </a:p>
        </p:txBody>
      </p:sp>
      <p:sp>
        <p:nvSpPr>
          <p:cNvPr id="27" name="Shape 25"/>
          <p:cNvSpPr/>
          <p:nvPr/>
        </p:nvSpPr>
        <p:spPr>
          <a:xfrm>
            <a:off x="640080" y="3648456"/>
            <a:ext cx="128016" cy="128016"/>
          </a:xfrm>
          <a:prstGeom prst="ellipse">
            <a:avLst/>
          </a:prstGeom>
          <a:solidFill>
            <a:srgbClr val="00B4D8"/>
          </a:solidFill>
          <a:ln/>
        </p:spPr>
        <p:txBody>
          <a:bodyPr/>
          <a:lstStyle/>
          <a:p>
            <a:endParaRPr lang="en-IN"/>
          </a:p>
        </p:txBody>
      </p:sp>
      <p:sp>
        <p:nvSpPr>
          <p:cNvPr id="28" name="Text 26"/>
          <p:cNvSpPr/>
          <p:nvPr/>
        </p:nvSpPr>
        <p:spPr>
          <a:xfrm>
            <a:off x="841248" y="3557016"/>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after_hours_logins</a:t>
            </a:r>
            <a:endParaRPr lang="en-US" sz="1100" dirty="0"/>
          </a:p>
        </p:txBody>
      </p:sp>
      <p:sp>
        <p:nvSpPr>
          <p:cNvPr id="29" name="Text 27"/>
          <p:cNvSpPr/>
          <p:nvPr/>
        </p:nvSpPr>
        <p:spPr>
          <a:xfrm>
            <a:off x="2514600" y="3557016"/>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Odd-hour access</a:t>
            </a:r>
            <a:endParaRPr lang="en-US" sz="1100" dirty="0"/>
          </a:p>
        </p:txBody>
      </p:sp>
      <p:sp>
        <p:nvSpPr>
          <p:cNvPr id="30" name="Shape 28"/>
          <p:cNvSpPr/>
          <p:nvPr/>
        </p:nvSpPr>
        <p:spPr>
          <a:xfrm>
            <a:off x="640080" y="4050792"/>
            <a:ext cx="128016" cy="128016"/>
          </a:xfrm>
          <a:prstGeom prst="ellipse">
            <a:avLst/>
          </a:prstGeom>
          <a:solidFill>
            <a:srgbClr val="00B4D8"/>
          </a:solidFill>
          <a:ln/>
        </p:spPr>
        <p:txBody>
          <a:bodyPr/>
          <a:lstStyle/>
          <a:p>
            <a:endParaRPr lang="en-IN"/>
          </a:p>
        </p:txBody>
      </p:sp>
      <p:sp>
        <p:nvSpPr>
          <p:cNvPr id="31" name="Text 29"/>
          <p:cNvSpPr/>
          <p:nvPr/>
        </p:nvSpPr>
        <p:spPr>
          <a:xfrm>
            <a:off x="841248" y="3959352"/>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files_copied_usb</a:t>
            </a:r>
            <a:endParaRPr lang="en-US" sz="1100" dirty="0"/>
          </a:p>
        </p:txBody>
      </p:sp>
      <p:sp>
        <p:nvSpPr>
          <p:cNvPr id="32" name="Text 30"/>
          <p:cNvSpPr/>
          <p:nvPr/>
        </p:nvSpPr>
        <p:spPr>
          <a:xfrm>
            <a:off x="2514600" y="3959352"/>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USB copies</a:t>
            </a:r>
            <a:endParaRPr lang="en-US" sz="1100" dirty="0"/>
          </a:p>
        </p:txBody>
      </p:sp>
      <p:sp>
        <p:nvSpPr>
          <p:cNvPr id="33" name="Shape 31"/>
          <p:cNvSpPr/>
          <p:nvPr/>
        </p:nvSpPr>
        <p:spPr>
          <a:xfrm>
            <a:off x="640080" y="4453128"/>
            <a:ext cx="128016" cy="128016"/>
          </a:xfrm>
          <a:prstGeom prst="ellipse">
            <a:avLst/>
          </a:prstGeom>
          <a:solidFill>
            <a:srgbClr val="00B4D8"/>
          </a:solidFill>
          <a:ln/>
        </p:spPr>
        <p:txBody>
          <a:bodyPr/>
          <a:lstStyle/>
          <a:p>
            <a:endParaRPr lang="en-IN"/>
          </a:p>
        </p:txBody>
      </p:sp>
      <p:sp>
        <p:nvSpPr>
          <p:cNvPr id="34" name="Text 32"/>
          <p:cNvSpPr/>
          <p:nvPr/>
        </p:nvSpPr>
        <p:spPr>
          <a:xfrm>
            <a:off x="841248" y="4361688"/>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unique_systems</a:t>
            </a:r>
            <a:endParaRPr lang="en-US" sz="1100" dirty="0"/>
          </a:p>
        </p:txBody>
      </p:sp>
      <p:sp>
        <p:nvSpPr>
          <p:cNvPr id="35" name="Text 33"/>
          <p:cNvSpPr/>
          <p:nvPr/>
        </p:nvSpPr>
        <p:spPr>
          <a:xfrm>
            <a:off x="2514600" y="4361688"/>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Computers used</a:t>
            </a:r>
            <a:endParaRPr lang="en-US" sz="1100" dirty="0"/>
          </a:p>
        </p:txBody>
      </p:sp>
      <p:sp>
        <p:nvSpPr>
          <p:cNvPr id="36" name="Shape 34"/>
          <p:cNvSpPr/>
          <p:nvPr/>
        </p:nvSpPr>
        <p:spPr>
          <a:xfrm>
            <a:off x="4800600" y="3246120"/>
            <a:ext cx="128016" cy="128016"/>
          </a:xfrm>
          <a:prstGeom prst="ellipse">
            <a:avLst/>
          </a:prstGeom>
          <a:solidFill>
            <a:srgbClr val="00B4D8"/>
          </a:solidFill>
          <a:ln/>
        </p:spPr>
        <p:txBody>
          <a:bodyPr/>
          <a:lstStyle/>
          <a:p>
            <a:endParaRPr lang="en-IN"/>
          </a:p>
        </p:txBody>
      </p:sp>
      <p:sp>
        <p:nvSpPr>
          <p:cNvPr id="37" name="Text 35"/>
          <p:cNvSpPr/>
          <p:nvPr/>
        </p:nvSpPr>
        <p:spPr>
          <a:xfrm>
            <a:off x="5001768" y="3154680"/>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files_accessed</a:t>
            </a:r>
            <a:endParaRPr lang="en-US" sz="1100" dirty="0"/>
          </a:p>
        </p:txBody>
      </p:sp>
      <p:sp>
        <p:nvSpPr>
          <p:cNvPr id="38" name="Text 36"/>
          <p:cNvSpPr/>
          <p:nvPr/>
        </p:nvSpPr>
        <p:spPr>
          <a:xfrm>
            <a:off x="6675120" y="3154680"/>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Files opened</a:t>
            </a:r>
            <a:endParaRPr lang="en-US" sz="1100" dirty="0"/>
          </a:p>
        </p:txBody>
      </p:sp>
      <p:sp>
        <p:nvSpPr>
          <p:cNvPr id="39" name="Shape 37"/>
          <p:cNvSpPr/>
          <p:nvPr/>
        </p:nvSpPr>
        <p:spPr>
          <a:xfrm>
            <a:off x="4800600" y="3648456"/>
            <a:ext cx="128016" cy="128016"/>
          </a:xfrm>
          <a:prstGeom prst="ellipse">
            <a:avLst/>
          </a:prstGeom>
          <a:solidFill>
            <a:srgbClr val="00B4D8"/>
          </a:solidFill>
          <a:ln/>
        </p:spPr>
        <p:txBody>
          <a:bodyPr/>
          <a:lstStyle/>
          <a:p>
            <a:endParaRPr lang="en-IN"/>
          </a:p>
        </p:txBody>
      </p:sp>
      <p:sp>
        <p:nvSpPr>
          <p:cNvPr id="40" name="Text 38"/>
          <p:cNvSpPr/>
          <p:nvPr/>
        </p:nvSpPr>
        <p:spPr>
          <a:xfrm>
            <a:off x="5001768" y="3557016"/>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emails_sent</a:t>
            </a:r>
            <a:endParaRPr lang="en-US" sz="1100" dirty="0"/>
          </a:p>
        </p:txBody>
      </p:sp>
      <p:sp>
        <p:nvSpPr>
          <p:cNvPr id="41" name="Text 39"/>
          <p:cNvSpPr/>
          <p:nvPr/>
        </p:nvSpPr>
        <p:spPr>
          <a:xfrm>
            <a:off x="6675120" y="3557016"/>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Emails sent</a:t>
            </a:r>
            <a:endParaRPr lang="en-US" sz="1100" dirty="0"/>
          </a:p>
        </p:txBody>
      </p:sp>
      <p:sp>
        <p:nvSpPr>
          <p:cNvPr id="42" name="Shape 40"/>
          <p:cNvSpPr/>
          <p:nvPr/>
        </p:nvSpPr>
        <p:spPr>
          <a:xfrm>
            <a:off x="4800600" y="4050792"/>
            <a:ext cx="128016" cy="128016"/>
          </a:xfrm>
          <a:prstGeom prst="ellipse">
            <a:avLst/>
          </a:prstGeom>
          <a:solidFill>
            <a:srgbClr val="00B4D8"/>
          </a:solidFill>
          <a:ln/>
        </p:spPr>
        <p:txBody>
          <a:bodyPr/>
          <a:lstStyle/>
          <a:p>
            <a:endParaRPr lang="en-IN"/>
          </a:p>
        </p:txBody>
      </p:sp>
      <p:sp>
        <p:nvSpPr>
          <p:cNvPr id="43" name="Text 41"/>
          <p:cNvSpPr/>
          <p:nvPr/>
        </p:nvSpPr>
        <p:spPr>
          <a:xfrm>
            <a:off x="5001768" y="3959352"/>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emails_external_pct</a:t>
            </a:r>
            <a:endParaRPr lang="en-US" sz="1100" dirty="0"/>
          </a:p>
        </p:txBody>
      </p:sp>
      <p:sp>
        <p:nvSpPr>
          <p:cNvPr id="44" name="Text 42"/>
          <p:cNvSpPr/>
          <p:nvPr/>
        </p:nvSpPr>
        <p:spPr>
          <a:xfrm>
            <a:off x="6675120" y="3959352"/>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 external email</a:t>
            </a:r>
            <a:endParaRPr lang="en-US" sz="1100" dirty="0"/>
          </a:p>
        </p:txBody>
      </p:sp>
      <p:sp>
        <p:nvSpPr>
          <p:cNvPr id="45" name="Shape 43"/>
          <p:cNvSpPr/>
          <p:nvPr/>
        </p:nvSpPr>
        <p:spPr>
          <a:xfrm>
            <a:off x="4800600" y="4453128"/>
            <a:ext cx="128016" cy="128016"/>
          </a:xfrm>
          <a:prstGeom prst="ellipse">
            <a:avLst/>
          </a:prstGeom>
          <a:solidFill>
            <a:srgbClr val="00B4D8"/>
          </a:solidFill>
          <a:ln/>
        </p:spPr>
        <p:txBody>
          <a:bodyPr/>
          <a:lstStyle/>
          <a:p>
            <a:endParaRPr lang="en-IN"/>
          </a:p>
        </p:txBody>
      </p:sp>
      <p:sp>
        <p:nvSpPr>
          <p:cNvPr id="46" name="Text 44"/>
          <p:cNvSpPr/>
          <p:nvPr/>
        </p:nvSpPr>
        <p:spPr>
          <a:xfrm>
            <a:off x="5001768" y="4361688"/>
            <a:ext cx="1691640" cy="347472"/>
          </a:xfrm>
          <a:prstGeom prst="rect">
            <a:avLst/>
          </a:prstGeom>
          <a:noFill/>
          <a:ln/>
        </p:spPr>
        <p:txBody>
          <a:bodyPr wrap="square" lIns="0" tIns="0" rIns="0" bIns="0" rtlCol="0" anchor="ctr"/>
          <a:lstStyle/>
          <a:p>
            <a:pPr marL="0" indent="0">
              <a:buNone/>
            </a:pPr>
            <a:r>
              <a:rPr lang="en-US" sz="1100" b="1" dirty="0">
                <a:solidFill>
                  <a:srgbClr val="0D1B2A"/>
                </a:solidFill>
                <a:latin typeface="Arial" pitchFamily="34" charset="0"/>
                <a:ea typeface="Arial" pitchFamily="34" charset="-122"/>
                <a:cs typeface="Arial" pitchFamily="34" charset="-120"/>
              </a:rPr>
              <a:t>+ 7 delta features</a:t>
            </a:r>
            <a:endParaRPr lang="en-US" sz="1100" dirty="0"/>
          </a:p>
        </p:txBody>
      </p:sp>
      <p:sp>
        <p:nvSpPr>
          <p:cNvPr id="47" name="Text 45"/>
          <p:cNvSpPr/>
          <p:nvPr/>
        </p:nvSpPr>
        <p:spPr>
          <a:xfrm>
            <a:off x="6675120" y="4361688"/>
            <a:ext cx="2103120" cy="347472"/>
          </a:xfrm>
          <a:prstGeom prst="rect">
            <a:avLst/>
          </a:prstGeom>
          <a:noFill/>
          <a:ln/>
        </p:spPr>
        <p:txBody>
          <a:bodyPr wrap="square" lIns="0" tIns="0" rIns="0" bIns="0" rtlCol="0" anchor="ctr"/>
          <a:lstStyle/>
          <a:p>
            <a:pPr marL="0" indent="0">
              <a:buNone/>
            </a:pPr>
            <a:r>
              <a:rPr lang="en-US" sz="1100" dirty="0">
                <a:solidFill>
                  <a:srgbClr val="64748B"/>
                </a:solidFill>
                <a:latin typeface="Arial" pitchFamily="34" charset="0"/>
                <a:ea typeface="Arial" pitchFamily="34" charset="-122"/>
                <a:cs typeface="Arial" pitchFamily="34" charset="-120"/>
              </a:rPr>
              <a:t>— Deviation from baseline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320040"/>
          </a:xfrm>
          <a:prstGeom prst="rect">
            <a:avLst/>
          </a:prstGeom>
          <a:noFill/>
          <a:ln/>
        </p:spPr>
        <p:txBody>
          <a:bodyPr wrap="square" lIns="0" tIns="0" rIns="0" bIns="0" rtlCol="0" anchor="ctr"/>
          <a:lstStyle/>
          <a:p>
            <a:pPr marL="0" indent="0" algn="ctr">
              <a:buNone/>
            </a:pPr>
            <a:r>
              <a:rPr lang="en-US" sz="1100" b="1" kern="0" spc="300" dirty="0">
                <a:solidFill>
                  <a:srgbClr val="00B4D8"/>
                </a:solidFill>
                <a:latin typeface="Arial" pitchFamily="34" charset="0"/>
                <a:ea typeface="Arial" pitchFamily="34" charset="-122"/>
                <a:cs typeface="Arial" pitchFamily="34" charset="-120"/>
              </a:rPr>
              <a:t>OUR PIPELINE</a:t>
            </a:r>
            <a:endParaRPr lang="en-US" sz="1100" dirty="0"/>
          </a:p>
        </p:txBody>
      </p:sp>
      <p:sp>
        <p:nvSpPr>
          <p:cNvPr id="3" name="Text 1"/>
          <p:cNvSpPr/>
          <p:nvPr/>
        </p:nvSpPr>
        <p:spPr>
          <a:xfrm>
            <a:off x="457200" y="594360"/>
            <a:ext cx="8229600" cy="292608"/>
          </a:xfrm>
          <a:prstGeom prst="rect">
            <a:avLst/>
          </a:prstGeom>
          <a:noFill/>
          <a:ln/>
        </p:spPr>
        <p:txBody>
          <a:bodyPr wrap="square" lIns="0" tIns="0" rIns="0" bIns="0" rtlCol="0" anchor="ctr"/>
          <a:lstStyle/>
          <a:p>
            <a:pPr marL="0" indent="0" algn="ctr">
              <a:buNone/>
            </a:pPr>
            <a:r>
              <a:rPr lang="en-US" sz="1400" dirty="0">
                <a:solidFill>
                  <a:srgbClr val="8BAFD4"/>
                </a:solidFill>
                <a:latin typeface="Arial" pitchFamily="34" charset="0"/>
                <a:ea typeface="Arial" pitchFamily="34" charset="-122"/>
                <a:cs typeface="Arial" pitchFamily="34" charset="-120"/>
              </a:rPr>
              <a:t>From raw logs to validated threat detection</a:t>
            </a:r>
            <a:endParaRPr lang="en-US" sz="1400" dirty="0"/>
          </a:p>
        </p:txBody>
      </p:sp>
      <p:sp>
        <p:nvSpPr>
          <p:cNvPr id="4" name="Shape 2"/>
          <p:cNvSpPr/>
          <p:nvPr/>
        </p:nvSpPr>
        <p:spPr>
          <a:xfrm>
            <a:off x="36270" y="1188720"/>
            <a:ext cx="1664208" cy="214884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5" name="Shape 3"/>
          <p:cNvSpPr/>
          <p:nvPr/>
        </p:nvSpPr>
        <p:spPr>
          <a:xfrm>
            <a:off x="36270" y="1188720"/>
            <a:ext cx="1664208" cy="73152"/>
          </a:xfrm>
          <a:prstGeom prst="rect">
            <a:avLst/>
          </a:prstGeom>
          <a:solidFill>
            <a:srgbClr val="00B4D8"/>
          </a:solidFill>
          <a:ln/>
        </p:spPr>
        <p:txBody>
          <a:bodyPr/>
          <a:lstStyle/>
          <a:p>
            <a:endParaRPr lang="en-IN"/>
          </a:p>
        </p:txBody>
      </p:sp>
      <p:sp>
        <p:nvSpPr>
          <p:cNvPr id="6" name="Text 4"/>
          <p:cNvSpPr/>
          <p:nvPr/>
        </p:nvSpPr>
        <p:spPr>
          <a:xfrm>
            <a:off x="36270" y="1298448"/>
            <a:ext cx="1664208" cy="411480"/>
          </a:xfrm>
          <a:prstGeom prst="rect">
            <a:avLst/>
          </a:prstGeom>
          <a:noFill/>
          <a:ln/>
        </p:spPr>
        <p:txBody>
          <a:bodyPr wrap="square" lIns="0" tIns="0" rIns="0" bIns="0" rtlCol="0" anchor="ctr"/>
          <a:lstStyle/>
          <a:p>
            <a:pPr marL="0" indent="0" algn="ctr">
              <a:buNone/>
            </a:pPr>
            <a:r>
              <a:rPr lang="en-US" sz="2200" b="1" dirty="0">
                <a:solidFill>
                  <a:srgbClr val="00B4D8"/>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36270" y="1737360"/>
            <a:ext cx="1664208"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Raw CERT</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Logs</a:t>
            </a:r>
            <a:endParaRPr lang="en-US" sz="1300" dirty="0"/>
          </a:p>
        </p:txBody>
      </p:sp>
      <p:sp>
        <p:nvSpPr>
          <p:cNvPr id="8" name="Text 6"/>
          <p:cNvSpPr/>
          <p:nvPr/>
        </p:nvSpPr>
        <p:spPr>
          <a:xfrm>
            <a:off x="36270" y="2395728"/>
            <a:ext cx="1664208" cy="548640"/>
          </a:xfrm>
          <a:prstGeom prst="rect">
            <a:avLst/>
          </a:prstGeom>
          <a:noFill/>
          <a:ln/>
        </p:spPr>
        <p:txBody>
          <a:bodyPr wrap="square" lIns="0" tIns="0" rIns="0" bIns="0" rtlCol="0" anchor="ctr"/>
          <a:lstStyle/>
          <a:p>
            <a:pPr marL="0" indent="0" algn="ctr">
              <a:buNone/>
            </a:pPr>
            <a:r>
              <a:rPr lang="en-US" sz="1000" dirty="0">
                <a:solidFill>
                  <a:srgbClr val="8BAFD4"/>
                </a:solidFill>
                <a:latin typeface="Arial" pitchFamily="34" charset="0"/>
                <a:ea typeface="Arial" pitchFamily="34" charset="-122"/>
                <a:cs typeface="Arial" pitchFamily="34" charset="-120"/>
              </a:rPr>
              <a:t>5 files</a:t>
            </a:r>
            <a:endParaRPr lang="en-US" sz="1000" dirty="0"/>
          </a:p>
        </p:txBody>
      </p:sp>
      <p:sp>
        <p:nvSpPr>
          <p:cNvPr id="9" name="Shape 7"/>
          <p:cNvSpPr/>
          <p:nvPr/>
        </p:nvSpPr>
        <p:spPr>
          <a:xfrm>
            <a:off x="1727910" y="2148840"/>
            <a:ext cx="182880" cy="54864"/>
          </a:xfrm>
          <a:prstGeom prst="rect">
            <a:avLst/>
          </a:prstGeom>
          <a:solidFill>
            <a:srgbClr val="64748B"/>
          </a:solidFill>
          <a:ln/>
        </p:spPr>
        <p:txBody>
          <a:bodyPr/>
          <a:lstStyle/>
          <a:p>
            <a:endParaRPr lang="en-IN"/>
          </a:p>
        </p:txBody>
      </p:sp>
      <p:sp>
        <p:nvSpPr>
          <p:cNvPr id="10" name="Shape 8"/>
          <p:cNvSpPr/>
          <p:nvPr/>
        </p:nvSpPr>
        <p:spPr>
          <a:xfrm rot="5400000">
            <a:off x="1883358" y="2020824"/>
            <a:ext cx="164592" cy="274320"/>
          </a:xfrm>
          <a:prstGeom prst="triangle">
            <a:avLst/>
          </a:prstGeom>
          <a:solidFill>
            <a:srgbClr val="64748B"/>
          </a:solidFill>
          <a:ln/>
        </p:spPr>
        <p:txBody>
          <a:bodyPr/>
          <a:lstStyle/>
          <a:p>
            <a:endParaRPr lang="en-IN"/>
          </a:p>
        </p:txBody>
      </p:sp>
      <p:sp>
        <p:nvSpPr>
          <p:cNvPr id="11" name="Shape 9"/>
          <p:cNvSpPr/>
          <p:nvPr/>
        </p:nvSpPr>
        <p:spPr>
          <a:xfrm>
            <a:off x="1892502" y="1188720"/>
            <a:ext cx="1664208" cy="214884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12" name="Shape 10"/>
          <p:cNvSpPr/>
          <p:nvPr/>
        </p:nvSpPr>
        <p:spPr>
          <a:xfrm>
            <a:off x="1892502" y="1188720"/>
            <a:ext cx="1664208" cy="73152"/>
          </a:xfrm>
          <a:prstGeom prst="rect">
            <a:avLst/>
          </a:prstGeom>
          <a:solidFill>
            <a:srgbClr val="F59E0B"/>
          </a:solidFill>
          <a:ln/>
        </p:spPr>
        <p:txBody>
          <a:bodyPr/>
          <a:lstStyle/>
          <a:p>
            <a:endParaRPr lang="en-IN"/>
          </a:p>
        </p:txBody>
      </p:sp>
      <p:sp>
        <p:nvSpPr>
          <p:cNvPr id="13" name="Text 11"/>
          <p:cNvSpPr/>
          <p:nvPr/>
        </p:nvSpPr>
        <p:spPr>
          <a:xfrm>
            <a:off x="1892502" y="1298448"/>
            <a:ext cx="1664208" cy="411480"/>
          </a:xfrm>
          <a:prstGeom prst="rect">
            <a:avLst/>
          </a:prstGeom>
          <a:noFill/>
          <a:ln/>
        </p:spPr>
        <p:txBody>
          <a:bodyPr wrap="square" lIns="0" tIns="0" rIns="0" bIns="0" rtlCol="0" anchor="ctr"/>
          <a:lstStyle/>
          <a:p>
            <a:pPr marL="0" indent="0" algn="ctr">
              <a:buNone/>
            </a:pPr>
            <a:r>
              <a:rPr lang="en-US" sz="2200" b="1" dirty="0">
                <a:solidFill>
                  <a:srgbClr val="F59E0B"/>
                </a:solidFill>
                <a:latin typeface="Arial" pitchFamily="34" charset="0"/>
                <a:ea typeface="Arial" pitchFamily="34" charset="-122"/>
                <a:cs typeface="Arial" pitchFamily="34" charset="-120"/>
              </a:rPr>
              <a:t>2</a:t>
            </a:r>
            <a:endParaRPr lang="en-US" sz="2200" dirty="0"/>
          </a:p>
        </p:txBody>
      </p:sp>
      <p:sp>
        <p:nvSpPr>
          <p:cNvPr id="14" name="Text 12"/>
          <p:cNvSpPr/>
          <p:nvPr/>
        </p:nvSpPr>
        <p:spPr>
          <a:xfrm>
            <a:off x="1892502" y="1737360"/>
            <a:ext cx="1664208"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Feature</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Engineering</a:t>
            </a:r>
            <a:endParaRPr lang="en-US" sz="1300" dirty="0"/>
          </a:p>
        </p:txBody>
      </p:sp>
      <p:sp>
        <p:nvSpPr>
          <p:cNvPr id="15" name="Text 13"/>
          <p:cNvSpPr/>
          <p:nvPr/>
        </p:nvSpPr>
        <p:spPr>
          <a:xfrm>
            <a:off x="1892502" y="2395728"/>
            <a:ext cx="1664208" cy="548640"/>
          </a:xfrm>
          <a:prstGeom prst="rect">
            <a:avLst/>
          </a:prstGeom>
          <a:noFill/>
          <a:ln/>
        </p:spPr>
        <p:txBody>
          <a:bodyPr wrap="square" lIns="0" tIns="0" rIns="0" bIns="0" rtlCol="0" anchor="ctr"/>
          <a:lstStyle/>
          <a:p>
            <a:pPr marL="0" indent="0" algn="ctr">
              <a:buNone/>
            </a:pPr>
            <a:r>
              <a:rPr lang="en-US" sz="1000" dirty="0">
                <a:solidFill>
                  <a:srgbClr val="8BAFD4"/>
                </a:solidFill>
                <a:latin typeface="Arial" pitchFamily="34" charset="0"/>
                <a:ea typeface="Arial" pitchFamily="34" charset="-122"/>
                <a:cs typeface="Arial" pitchFamily="34" charset="-120"/>
              </a:rPr>
              <a:t>14 features</a:t>
            </a:r>
            <a:endParaRPr lang="en-US" sz="1000" dirty="0"/>
          </a:p>
        </p:txBody>
      </p:sp>
      <p:sp>
        <p:nvSpPr>
          <p:cNvPr id="16" name="Shape 14"/>
          <p:cNvSpPr/>
          <p:nvPr/>
        </p:nvSpPr>
        <p:spPr>
          <a:xfrm>
            <a:off x="3584142" y="2148840"/>
            <a:ext cx="182880" cy="54864"/>
          </a:xfrm>
          <a:prstGeom prst="rect">
            <a:avLst/>
          </a:prstGeom>
          <a:solidFill>
            <a:srgbClr val="64748B"/>
          </a:solidFill>
          <a:ln/>
        </p:spPr>
        <p:txBody>
          <a:bodyPr/>
          <a:lstStyle/>
          <a:p>
            <a:endParaRPr lang="en-IN"/>
          </a:p>
        </p:txBody>
      </p:sp>
      <p:sp>
        <p:nvSpPr>
          <p:cNvPr id="17" name="Shape 15"/>
          <p:cNvSpPr/>
          <p:nvPr/>
        </p:nvSpPr>
        <p:spPr>
          <a:xfrm rot="5400000">
            <a:off x="3739590" y="2020824"/>
            <a:ext cx="164592" cy="274320"/>
          </a:xfrm>
          <a:prstGeom prst="triangle">
            <a:avLst/>
          </a:prstGeom>
          <a:solidFill>
            <a:srgbClr val="64748B"/>
          </a:solidFill>
          <a:ln/>
        </p:spPr>
        <p:txBody>
          <a:bodyPr/>
          <a:lstStyle/>
          <a:p>
            <a:endParaRPr lang="en-IN"/>
          </a:p>
        </p:txBody>
      </p:sp>
      <p:sp>
        <p:nvSpPr>
          <p:cNvPr id="18" name="Shape 16"/>
          <p:cNvSpPr/>
          <p:nvPr/>
        </p:nvSpPr>
        <p:spPr>
          <a:xfrm>
            <a:off x="3748734" y="1188720"/>
            <a:ext cx="1664208" cy="214884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19" name="Shape 17"/>
          <p:cNvSpPr/>
          <p:nvPr/>
        </p:nvSpPr>
        <p:spPr>
          <a:xfrm>
            <a:off x="3748734" y="1188720"/>
            <a:ext cx="1664208" cy="73152"/>
          </a:xfrm>
          <a:prstGeom prst="rect">
            <a:avLst/>
          </a:prstGeom>
          <a:solidFill>
            <a:srgbClr val="10B981"/>
          </a:solidFill>
          <a:ln/>
        </p:spPr>
        <p:txBody>
          <a:bodyPr/>
          <a:lstStyle/>
          <a:p>
            <a:endParaRPr lang="en-IN"/>
          </a:p>
        </p:txBody>
      </p:sp>
      <p:sp>
        <p:nvSpPr>
          <p:cNvPr id="20" name="Text 18"/>
          <p:cNvSpPr/>
          <p:nvPr/>
        </p:nvSpPr>
        <p:spPr>
          <a:xfrm>
            <a:off x="3748734" y="1298448"/>
            <a:ext cx="1664208" cy="411480"/>
          </a:xfrm>
          <a:prstGeom prst="rect">
            <a:avLst/>
          </a:prstGeom>
          <a:noFill/>
          <a:ln/>
        </p:spPr>
        <p:txBody>
          <a:bodyPr wrap="square" lIns="0" tIns="0" rIns="0" bIns="0" rtlCol="0" anchor="ctr"/>
          <a:lstStyle/>
          <a:p>
            <a:pPr marL="0" indent="0" algn="ctr">
              <a:buNone/>
            </a:pPr>
            <a:r>
              <a:rPr lang="en-US" sz="2200" b="1" dirty="0">
                <a:solidFill>
                  <a:srgbClr val="10B981"/>
                </a:solidFill>
                <a:latin typeface="Arial" pitchFamily="34" charset="0"/>
                <a:ea typeface="Arial" pitchFamily="34" charset="-122"/>
                <a:cs typeface="Arial" pitchFamily="34" charset="-120"/>
              </a:rPr>
              <a:t>3</a:t>
            </a:r>
            <a:endParaRPr lang="en-US" sz="2200" dirty="0"/>
          </a:p>
        </p:txBody>
      </p:sp>
      <p:sp>
        <p:nvSpPr>
          <p:cNvPr id="21" name="Text 19"/>
          <p:cNvSpPr/>
          <p:nvPr/>
        </p:nvSpPr>
        <p:spPr>
          <a:xfrm>
            <a:off x="3748734" y="1737360"/>
            <a:ext cx="1664208"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Isolation</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Forest + LOF</a:t>
            </a:r>
            <a:endParaRPr lang="en-US" sz="1300" dirty="0"/>
          </a:p>
        </p:txBody>
      </p:sp>
      <p:sp>
        <p:nvSpPr>
          <p:cNvPr id="22" name="Text 20"/>
          <p:cNvSpPr/>
          <p:nvPr/>
        </p:nvSpPr>
        <p:spPr>
          <a:xfrm>
            <a:off x="3748734" y="2395728"/>
            <a:ext cx="1664208" cy="548640"/>
          </a:xfrm>
          <a:prstGeom prst="rect">
            <a:avLst/>
          </a:prstGeom>
          <a:noFill/>
          <a:ln/>
        </p:spPr>
        <p:txBody>
          <a:bodyPr wrap="square" lIns="0" tIns="0" rIns="0" bIns="0" rtlCol="0" anchor="ctr"/>
          <a:lstStyle/>
          <a:p>
            <a:pPr marL="0" indent="0" algn="ctr">
              <a:buNone/>
            </a:pPr>
            <a:r>
              <a:rPr lang="en-US" sz="1000" dirty="0">
                <a:solidFill>
                  <a:srgbClr val="8BAFD4"/>
                </a:solidFill>
                <a:latin typeface="Arial" pitchFamily="34" charset="0"/>
                <a:ea typeface="Arial" pitchFamily="34" charset="-122"/>
                <a:cs typeface="Arial" pitchFamily="34" charset="-120"/>
              </a:rPr>
              <a:t>Unsupervised</a:t>
            </a:r>
            <a:endParaRPr lang="en-US" sz="1000" dirty="0"/>
          </a:p>
        </p:txBody>
      </p:sp>
      <p:sp>
        <p:nvSpPr>
          <p:cNvPr id="23" name="Shape 21"/>
          <p:cNvSpPr/>
          <p:nvPr/>
        </p:nvSpPr>
        <p:spPr>
          <a:xfrm>
            <a:off x="5440374" y="2148840"/>
            <a:ext cx="182880" cy="54864"/>
          </a:xfrm>
          <a:prstGeom prst="rect">
            <a:avLst/>
          </a:prstGeom>
          <a:solidFill>
            <a:srgbClr val="64748B"/>
          </a:solidFill>
          <a:ln/>
        </p:spPr>
        <p:txBody>
          <a:bodyPr/>
          <a:lstStyle/>
          <a:p>
            <a:endParaRPr lang="en-IN"/>
          </a:p>
        </p:txBody>
      </p:sp>
      <p:sp>
        <p:nvSpPr>
          <p:cNvPr id="24" name="Shape 22"/>
          <p:cNvSpPr/>
          <p:nvPr/>
        </p:nvSpPr>
        <p:spPr>
          <a:xfrm rot="5400000">
            <a:off x="5595822" y="2020824"/>
            <a:ext cx="164592" cy="274320"/>
          </a:xfrm>
          <a:prstGeom prst="triangle">
            <a:avLst/>
          </a:prstGeom>
          <a:solidFill>
            <a:srgbClr val="64748B"/>
          </a:solidFill>
          <a:ln/>
        </p:spPr>
        <p:txBody>
          <a:bodyPr/>
          <a:lstStyle/>
          <a:p>
            <a:endParaRPr lang="en-IN"/>
          </a:p>
        </p:txBody>
      </p:sp>
      <p:sp>
        <p:nvSpPr>
          <p:cNvPr id="25" name="Shape 23"/>
          <p:cNvSpPr/>
          <p:nvPr/>
        </p:nvSpPr>
        <p:spPr>
          <a:xfrm>
            <a:off x="5604966" y="1188720"/>
            <a:ext cx="1664208" cy="214884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26" name="Shape 24"/>
          <p:cNvSpPr/>
          <p:nvPr/>
        </p:nvSpPr>
        <p:spPr>
          <a:xfrm>
            <a:off x="5604966" y="1188720"/>
            <a:ext cx="1664208" cy="73152"/>
          </a:xfrm>
          <a:prstGeom prst="rect">
            <a:avLst/>
          </a:prstGeom>
          <a:solidFill>
            <a:srgbClr val="8B5CF6"/>
          </a:solidFill>
          <a:ln/>
        </p:spPr>
        <p:txBody>
          <a:bodyPr/>
          <a:lstStyle/>
          <a:p>
            <a:endParaRPr lang="en-IN"/>
          </a:p>
        </p:txBody>
      </p:sp>
      <p:sp>
        <p:nvSpPr>
          <p:cNvPr id="27" name="Text 25"/>
          <p:cNvSpPr/>
          <p:nvPr/>
        </p:nvSpPr>
        <p:spPr>
          <a:xfrm>
            <a:off x="5604966" y="1298448"/>
            <a:ext cx="1664208" cy="411480"/>
          </a:xfrm>
          <a:prstGeom prst="rect">
            <a:avLst/>
          </a:prstGeom>
          <a:noFill/>
          <a:ln/>
        </p:spPr>
        <p:txBody>
          <a:bodyPr wrap="square" lIns="0" tIns="0" rIns="0" bIns="0" rtlCol="0" anchor="ctr"/>
          <a:lstStyle/>
          <a:p>
            <a:pPr marL="0" indent="0" algn="ctr">
              <a:buNone/>
            </a:pPr>
            <a:r>
              <a:rPr lang="en-US" sz="2200" b="1" dirty="0">
                <a:solidFill>
                  <a:srgbClr val="8B5CF6"/>
                </a:solidFill>
                <a:latin typeface="Arial" pitchFamily="34" charset="0"/>
                <a:ea typeface="Arial" pitchFamily="34" charset="-122"/>
                <a:cs typeface="Arial" pitchFamily="34" charset="-120"/>
              </a:rPr>
              <a:t>4</a:t>
            </a:r>
            <a:endParaRPr lang="en-US" sz="2200" dirty="0"/>
          </a:p>
        </p:txBody>
      </p:sp>
      <p:sp>
        <p:nvSpPr>
          <p:cNvPr id="28" name="Text 26"/>
          <p:cNvSpPr/>
          <p:nvPr/>
        </p:nvSpPr>
        <p:spPr>
          <a:xfrm>
            <a:off x="5604966" y="1737360"/>
            <a:ext cx="1664208"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Random</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Forest</a:t>
            </a:r>
            <a:endParaRPr lang="en-US" sz="1300" dirty="0"/>
          </a:p>
        </p:txBody>
      </p:sp>
      <p:sp>
        <p:nvSpPr>
          <p:cNvPr id="29" name="Text 27"/>
          <p:cNvSpPr/>
          <p:nvPr/>
        </p:nvSpPr>
        <p:spPr>
          <a:xfrm>
            <a:off x="5604966" y="2395728"/>
            <a:ext cx="1664208" cy="548640"/>
          </a:xfrm>
          <a:prstGeom prst="rect">
            <a:avLst/>
          </a:prstGeom>
          <a:noFill/>
          <a:ln/>
        </p:spPr>
        <p:txBody>
          <a:bodyPr wrap="square" lIns="0" tIns="0" rIns="0" bIns="0" rtlCol="0" anchor="ctr"/>
          <a:lstStyle/>
          <a:p>
            <a:pPr marL="0" indent="0" algn="ctr">
              <a:buNone/>
            </a:pPr>
            <a:r>
              <a:rPr lang="en-US" sz="1000" dirty="0">
                <a:solidFill>
                  <a:srgbClr val="8BAFD4"/>
                </a:solidFill>
                <a:latin typeface="Arial" pitchFamily="34" charset="0"/>
                <a:ea typeface="Arial" pitchFamily="34" charset="-122"/>
                <a:cs typeface="Arial" pitchFamily="34" charset="-120"/>
              </a:rPr>
              <a:t>Supervised</a:t>
            </a:r>
            <a:endParaRPr lang="en-US" sz="1000" dirty="0"/>
          </a:p>
        </p:txBody>
      </p:sp>
      <p:sp>
        <p:nvSpPr>
          <p:cNvPr id="30" name="Shape 28"/>
          <p:cNvSpPr/>
          <p:nvPr/>
        </p:nvSpPr>
        <p:spPr>
          <a:xfrm>
            <a:off x="7296606" y="2148840"/>
            <a:ext cx="182880" cy="54864"/>
          </a:xfrm>
          <a:prstGeom prst="rect">
            <a:avLst/>
          </a:prstGeom>
          <a:solidFill>
            <a:srgbClr val="64748B"/>
          </a:solidFill>
          <a:ln/>
        </p:spPr>
        <p:txBody>
          <a:bodyPr/>
          <a:lstStyle/>
          <a:p>
            <a:endParaRPr lang="en-IN"/>
          </a:p>
        </p:txBody>
      </p:sp>
      <p:sp>
        <p:nvSpPr>
          <p:cNvPr id="31" name="Shape 29"/>
          <p:cNvSpPr/>
          <p:nvPr/>
        </p:nvSpPr>
        <p:spPr>
          <a:xfrm rot="5400000">
            <a:off x="7452054" y="2020824"/>
            <a:ext cx="164592" cy="274320"/>
          </a:xfrm>
          <a:prstGeom prst="triangle">
            <a:avLst/>
          </a:prstGeom>
          <a:solidFill>
            <a:srgbClr val="64748B"/>
          </a:solidFill>
          <a:ln/>
        </p:spPr>
        <p:txBody>
          <a:bodyPr/>
          <a:lstStyle/>
          <a:p>
            <a:endParaRPr lang="en-IN"/>
          </a:p>
        </p:txBody>
      </p:sp>
      <p:sp>
        <p:nvSpPr>
          <p:cNvPr id="32" name="Shape 30"/>
          <p:cNvSpPr/>
          <p:nvPr/>
        </p:nvSpPr>
        <p:spPr>
          <a:xfrm>
            <a:off x="7461198" y="1188720"/>
            <a:ext cx="1664208" cy="214884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33" name="Shape 31"/>
          <p:cNvSpPr/>
          <p:nvPr/>
        </p:nvSpPr>
        <p:spPr>
          <a:xfrm>
            <a:off x="7461198" y="1188720"/>
            <a:ext cx="1664208" cy="73152"/>
          </a:xfrm>
          <a:prstGeom prst="rect">
            <a:avLst/>
          </a:prstGeom>
          <a:solidFill>
            <a:srgbClr val="EF4444"/>
          </a:solidFill>
          <a:ln/>
        </p:spPr>
        <p:txBody>
          <a:bodyPr/>
          <a:lstStyle/>
          <a:p>
            <a:endParaRPr lang="en-IN"/>
          </a:p>
        </p:txBody>
      </p:sp>
      <p:sp>
        <p:nvSpPr>
          <p:cNvPr id="34" name="Text 32"/>
          <p:cNvSpPr/>
          <p:nvPr/>
        </p:nvSpPr>
        <p:spPr>
          <a:xfrm>
            <a:off x="7461198" y="1298448"/>
            <a:ext cx="1664208" cy="411480"/>
          </a:xfrm>
          <a:prstGeom prst="rect">
            <a:avLst/>
          </a:prstGeom>
          <a:noFill/>
          <a:ln/>
        </p:spPr>
        <p:txBody>
          <a:bodyPr wrap="square" lIns="0" tIns="0" rIns="0" bIns="0" rtlCol="0" anchor="ctr"/>
          <a:lstStyle/>
          <a:p>
            <a:pPr marL="0" indent="0" algn="ctr">
              <a:buNone/>
            </a:pPr>
            <a:r>
              <a:rPr lang="en-US" sz="2200" b="1" dirty="0">
                <a:solidFill>
                  <a:srgbClr val="EF4444"/>
                </a:solidFill>
                <a:latin typeface="Arial" pitchFamily="34" charset="0"/>
                <a:ea typeface="Arial" pitchFamily="34" charset="-122"/>
                <a:cs typeface="Arial" pitchFamily="34" charset="-120"/>
              </a:rPr>
              <a:t>5</a:t>
            </a:r>
            <a:endParaRPr lang="en-US" sz="2200" dirty="0"/>
          </a:p>
        </p:txBody>
      </p:sp>
      <p:sp>
        <p:nvSpPr>
          <p:cNvPr id="35" name="Text 33"/>
          <p:cNvSpPr/>
          <p:nvPr/>
        </p:nvSpPr>
        <p:spPr>
          <a:xfrm>
            <a:off x="7461198" y="1737360"/>
            <a:ext cx="1664208"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Validate vs</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Answer Sheet</a:t>
            </a:r>
            <a:endParaRPr lang="en-US" sz="1300" dirty="0"/>
          </a:p>
        </p:txBody>
      </p:sp>
      <p:sp>
        <p:nvSpPr>
          <p:cNvPr id="36" name="Text 34"/>
          <p:cNvSpPr/>
          <p:nvPr/>
        </p:nvSpPr>
        <p:spPr>
          <a:xfrm>
            <a:off x="7461198" y="2395728"/>
            <a:ext cx="1664208" cy="548640"/>
          </a:xfrm>
          <a:prstGeom prst="rect">
            <a:avLst/>
          </a:prstGeom>
          <a:noFill/>
          <a:ln/>
        </p:spPr>
        <p:txBody>
          <a:bodyPr wrap="square" lIns="0" tIns="0" rIns="0" bIns="0" rtlCol="0" anchor="ctr"/>
          <a:lstStyle/>
          <a:p>
            <a:pPr marL="0" indent="0" algn="ctr">
              <a:buNone/>
            </a:pPr>
            <a:r>
              <a:rPr lang="en-US" sz="1000" dirty="0">
                <a:solidFill>
                  <a:srgbClr val="8BAFD4"/>
                </a:solidFill>
                <a:latin typeface="Arial" pitchFamily="34" charset="0"/>
                <a:ea typeface="Arial" pitchFamily="34" charset="-122"/>
                <a:cs typeface="Arial" pitchFamily="34" charset="-120"/>
              </a:rPr>
              <a:t>insiders.csv</a:t>
            </a:r>
            <a:endParaRPr lang="en-US" sz="1000" dirty="0"/>
          </a:p>
        </p:txBody>
      </p:sp>
      <p:sp>
        <p:nvSpPr>
          <p:cNvPr id="37" name="Shape 35"/>
          <p:cNvSpPr/>
          <p:nvPr/>
        </p:nvSpPr>
        <p:spPr>
          <a:xfrm>
            <a:off x="457200" y="3547872"/>
            <a:ext cx="8229600" cy="1325880"/>
          </a:xfrm>
          <a:prstGeom prst="rect">
            <a:avLst/>
          </a:prstGeom>
          <a:solidFill>
            <a:srgbClr val="0A2540"/>
          </a:solidFill>
          <a:ln/>
        </p:spPr>
        <p:txBody>
          <a:bodyPr/>
          <a:lstStyle/>
          <a:p>
            <a:endParaRPr lang="en-IN"/>
          </a:p>
        </p:txBody>
      </p:sp>
      <p:sp>
        <p:nvSpPr>
          <p:cNvPr id="38" name="Text 36"/>
          <p:cNvSpPr/>
          <p:nvPr/>
        </p:nvSpPr>
        <p:spPr>
          <a:xfrm>
            <a:off x="640080" y="3648456"/>
            <a:ext cx="7772400" cy="274320"/>
          </a:xfrm>
          <a:prstGeom prst="rect">
            <a:avLst/>
          </a:prstGeom>
          <a:noFill/>
          <a:ln/>
        </p:spPr>
        <p:txBody>
          <a:bodyPr wrap="square" lIns="0" tIns="0" rIns="0" bIns="0" rtlCol="0" anchor="ctr"/>
          <a:lstStyle/>
          <a:p>
            <a:pPr marL="0" indent="0">
              <a:buNone/>
            </a:pPr>
            <a:r>
              <a:rPr lang="en-US" sz="1300" b="1" dirty="0">
                <a:solidFill>
                  <a:srgbClr val="00B4D8"/>
                </a:solidFill>
                <a:latin typeface="Arial" pitchFamily="34" charset="0"/>
                <a:ea typeface="Arial" pitchFamily="34" charset="-122"/>
                <a:cs typeface="Arial" pitchFamily="34" charset="-120"/>
              </a:rPr>
              <a:t>Key idea — Delta Features</a:t>
            </a:r>
            <a:endParaRPr lang="en-US" sz="1300" dirty="0"/>
          </a:p>
        </p:txBody>
      </p:sp>
      <p:sp>
        <p:nvSpPr>
          <p:cNvPr id="39" name="Text 37"/>
          <p:cNvSpPr/>
          <p:nvPr/>
        </p:nvSpPr>
        <p:spPr>
          <a:xfrm>
            <a:off x="640080" y="3950208"/>
            <a:ext cx="7772400" cy="777240"/>
          </a:xfrm>
          <a:prstGeom prst="rect">
            <a:avLst/>
          </a:prstGeom>
          <a:noFill/>
          <a:ln/>
        </p:spPr>
        <p:txBody>
          <a:bodyPr wrap="square" lIns="0" tIns="0" rIns="0" bIns="0" rtlCol="0" anchor="ctr"/>
          <a:lstStyle/>
          <a:p>
            <a:pPr marL="0" indent="0">
              <a:lnSpc>
                <a:spcPct val="130000"/>
              </a:lnSpc>
              <a:buNone/>
            </a:pPr>
            <a:r>
              <a:rPr lang="en-US" sz="1200" dirty="0">
                <a:solidFill>
                  <a:srgbClr val="8BAFD4"/>
                </a:solidFill>
                <a:latin typeface="Arial" pitchFamily="34" charset="0"/>
                <a:ea typeface="Arial" pitchFamily="34" charset="-122"/>
                <a:cs typeface="Arial" pitchFamily="34" charset="-120"/>
              </a:rPr>
              <a:t>For each feature we also measure how much a user deviates from THEIR OWN normal. Someone who usually logs in 5 times but today logs in 18 is flagged — even if 18 is normal for others. This catches behavioural escalation.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256032"/>
            <a:ext cx="2743200" cy="274320"/>
          </a:xfrm>
          <a:prstGeom prst="rect">
            <a:avLst/>
          </a:prstGeom>
          <a:solidFill>
            <a:srgbClr val="0D1B2A"/>
          </a:solidFill>
          <a:ln/>
        </p:spPr>
        <p:txBody>
          <a:bodyPr/>
          <a:lstStyle/>
          <a:p>
            <a:endParaRPr lang="en-IN"/>
          </a:p>
        </p:txBody>
      </p:sp>
      <p:sp>
        <p:nvSpPr>
          <p:cNvPr id="3" name="Text 1"/>
          <p:cNvSpPr/>
          <p:nvPr/>
        </p:nvSpPr>
        <p:spPr>
          <a:xfrm>
            <a:off x="457200" y="256032"/>
            <a:ext cx="2743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UNSUPERVISED MODELS</a:t>
            </a:r>
            <a:endParaRPr lang="en-US" sz="100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marL="0" indent="0">
              <a:buNone/>
            </a:pPr>
            <a:r>
              <a:rPr lang="en-US" sz="2700" b="1" dirty="0">
                <a:solidFill>
                  <a:srgbClr val="0D1B2A"/>
                </a:solidFill>
                <a:latin typeface="Arial" pitchFamily="34" charset="0"/>
                <a:ea typeface="Arial" pitchFamily="34" charset="-122"/>
                <a:cs typeface="Arial" pitchFamily="34" charset="-120"/>
              </a:rPr>
              <a:t>Anomaly Detection — No Labels Needed</a:t>
            </a:r>
            <a:endParaRPr lang="en-US" sz="2700" dirty="0"/>
          </a:p>
        </p:txBody>
      </p:sp>
      <p:sp>
        <p:nvSpPr>
          <p:cNvPr id="5" name="Text 3"/>
          <p:cNvSpPr/>
          <p:nvPr/>
        </p:nvSpPr>
        <p:spPr>
          <a:xfrm>
            <a:off x="457200" y="1133856"/>
            <a:ext cx="8229600" cy="292608"/>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Isolation Forest &amp; LOF both independently flag ~2% as suspicious</a:t>
            </a:r>
            <a:endParaRPr lang="en-US" sz="1300" dirty="0"/>
          </a:p>
        </p:txBody>
      </p:sp>
      <p:sp>
        <p:nvSpPr>
          <p:cNvPr id="6" name="Shape 4"/>
          <p:cNvSpPr/>
          <p:nvPr/>
        </p:nvSpPr>
        <p:spPr>
          <a:xfrm>
            <a:off x="457200" y="1463040"/>
            <a:ext cx="26060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7" name="Shape 5"/>
          <p:cNvSpPr/>
          <p:nvPr/>
        </p:nvSpPr>
        <p:spPr>
          <a:xfrm>
            <a:off x="457200" y="1463040"/>
            <a:ext cx="2606040" cy="54864"/>
          </a:xfrm>
          <a:prstGeom prst="rect">
            <a:avLst/>
          </a:prstGeom>
          <a:solidFill>
            <a:srgbClr val="0D1B2A"/>
          </a:solidFill>
          <a:ln/>
        </p:spPr>
        <p:txBody>
          <a:bodyPr/>
          <a:lstStyle/>
          <a:p>
            <a:endParaRPr lang="en-IN"/>
          </a:p>
        </p:txBody>
      </p:sp>
      <p:sp>
        <p:nvSpPr>
          <p:cNvPr id="8" name="Text 6"/>
          <p:cNvSpPr/>
          <p:nvPr/>
        </p:nvSpPr>
        <p:spPr>
          <a:xfrm>
            <a:off x="457200" y="1609344"/>
            <a:ext cx="26060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330,268</a:t>
            </a:r>
            <a:endParaRPr lang="en-US" sz="3000" dirty="0"/>
          </a:p>
        </p:txBody>
      </p:sp>
      <p:sp>
        <p:nvSpPr>
          <p:cNvPr id="9" name="Text 7"/>
          <p:cNvSpPr/>
          <p:nvPr/>
        </p:nvSpPr>
        <p:spPr>
          <a:xfrm>
            <a:off x="457200" y="2139696"/>
            <a:ext cx="26060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Records Analysed</a:t>
            </a:r>
            <a:endParaRPr lang="en-US" sz="1100" dirty="0"/>
          </a:p>
        </p:txBody>
      </p:sp>
      <p:sp>
        <p:nvSpPr>
          <p:cNvPr id="10" name="Shape 8"/>
          <p:cNvSpPr/>
          <p:nvPr/>
        </p:nvSpPr>
        <p:spPr>
          <a:xfrm>
            <a:off x="3273552" y="1463040"/>
            <a:ext cx="26060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1" name="Shape 9"/>
          <p:cNvSpPr/>
          <p:nvPr/>
        </p:nvSpPr>
        <p:spPr>
          <a:xfrm>
            <a:off x="3273552" y="1463040"/>
            <a:ext cx="2606040" cy="54864"/>
          </a:xfrm>
          <a:prstGeom prst="rect">
            <a:avLst/>
          </a:prstGeom>
          <a:solidFill>
            <a:srgbClr val="EF4444"/>
          </a:solidFill>
          <a:ln/>
        </p:spPr>
        <p:txBody>
          <a:bodyPr/>
          <a:lstStyle/>
          <a:p>
            <a:endParaRPr lang="en-IN"/>
          </a:p>
        </p:txBody>
      </p:sp>
      <p:sp>
        <p:nvSpPr>
          <p:cNvPr id="12" name="Text 10"/>
          <p:cNvSpPr/>
          <p:nvPr/>
        </p:nvSpPr>
        <p:spPr>
          <a:xfrm>
            <a:off x="3273552" y="1609344"/>
            <a:ext cx="26060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6,606</a:t>
            </a:r>
            <a:endParaRPr lang="en-US" sz="3000" dirty="0"/>
          </a:p>
        </p:txBody>
      </p:sp>
      <p:sp>
        <p:nvSpPr>
          <p:cNvPr id="13" name="Text 11"/>
          <p:cNvSpPr/>
          <p:nvPr/>
        </p:nvSpPr>
        <p:spPr>
          <a:xfrm>
            <a:off x="3273552" y="2139696"/>
            <a:ext cx="26060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Flagged (Iso. Forest)</a:t>
            </a:r>
            <a:endParaRPr lang="en-US" sz="1100" dirty="0"/>
          </a:p>
        </p:txBody>
      </p:sp>
      <p:sp>
        <p:nvSpPr>
          <p:cNvPr id="14" name="Shape 12"/>
          <p:cNvSpPr/>
          <p:nvPr/>
        </p:nvSpPr>
        <p:spPr>
          <a:xfrm>
            <a:off x="6089904" y="1463040"/>
            <a:ext cx="26060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5" name="Shape 13"/>
          <p:cNvSpPr/>
          <p:nvPr/>
        </p:nvSpPr>
        <p:spPr>
          <a:xfrm>
            <a:off x="6089904" y="1463040"/>
            <a:ext cx="2606040" cy="54864"/>
          </a:xfrm>
          <a:prstGeom prst="rect">
            <a:avLst/>
          </a:prstGeom>
          <a:solidFill>
            <a:srgbClr val="00B4D8"/>
          </a:solidFill>
          <a:ln/>
        </p:spPr>
        <p:txBody>
          <a:bodyPr/>
          <a:lstStyle/>
          <a:p>
            <a:endParaRPr lang="en-IN"/>
          </a:p>
        </p:txBody>
      </p:sp>
      <p:sp>
        <p:nvSpPr>
          <p:cNvPr id="16" name="Text 14"/>
          <p:cNvSpPr/>
          <p:nvPr/>
        </p:nvSpPr>
        <p:spPr>
          <a:xfrm>
            <a:off x="6089904" y="1609344"/>
            <a:ext cx="26060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2.00%</a:t>
            </a:r>
            <a:endParaRPr lang="en-US" sz="3000" dirty="0"/>
          </a:p>
        </p:txBody>
      </p:sp>
      <p:sp>
        <p:nvSpPr>
          <p:cNvPr id="17" name="Text 15"/>
          <p:cNvSpPr/>
          <p:nvPr/>
        </p:nvSpPr>
        <p:spPr>
          <a:xfrm>
            <a:off x="6089904" y="2139696"/>
            <a:ext cx="26060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Anomaly Rate</a:t>
            </a:r>
            <a:endParaRPr lang="en-US" sz="1100" dirty="0"/>
          </a:p>
        </p:txBody>
      </p:sp>
      <p:sp>
        <p:nvSpPr>
          <p:cNvPr id="18" name="Shape 16"/>
          <p:cNvSpPr/>
          <p:nvPr/>
        </p:nvSpPr>
        <p:spPr>
          <a:xfrm>
            <a:off x="457200" y="2743200"/>
            <a:ext cx="4023360" cy="210312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9" name="Text 17"/>
          <p:cNvSpPr/>
          <p:nvPr/>
        </p:nvSpPr>
        <p:spPr>
          <a:xfrm>
            <a:off x="621792" y="2852928"/>
            <a:ext cx="3657600" cy="292608"/>
          </a:xfrm>
          <a:prstGeom prst="rect">
            <a:avLst/>
          </a:prstGeom>
          <a:noFill/>
          <a:ln/>
        </p:spPr>
        <p:txBody>
          <a:bodyPr wrap="square" lIns="0" tIns="0" rIns="0" bIns="0" rtlCol="0" anchor="ctr"/>
          <a:lstStyle/>
          <a:p>
            <a:pPr marL="0" indent="0">
              <a:buNone/>
            </a:pPr>
            <a:r>
              <a:rPr lang="en-US" sz="1400" b="1" dirty="0">
                <a:solidFill>
                  <a:srgbClr val="0D1B2A"/>
                </a:solidFill>
                <a:latin typeface="Arial" pitchFamily="34" charset="0"/>
                <a:ea typeface="Arial" pitchFamily="34" charset="-122"/>
                <a:cs typeface="Arial" pitchFamily="34" charset="-120"/>
              </a:rPr>
              <a:t>Isolation Forest</a:t>
            </a:r>
            <a:endParaRPr lang="en-US" sz="1400" dirty="0"/>
          </a:p>
        </p:txBody>
      </p:sp>
      <p:sp>
        <p:nvSpPr>
          <p:cNvPr id="20" name="Text 18"/>
          <p:cNvSpPr/>
          <p:nvPr/>
        </p:nvSpPr>
        <p:spPr>
          <a:xfrm>
            <a:off x="621792" y="3200400"/>
            <a:ext cx="3703320" cy="1463040"/>
          </a:xfrm>
          <a:prstGeom prst="rect">
            <a:avLst/>
          </a:prstGeom>
          <a:noFill/>
          <a:ln/>
        </p:spPr>
        <p:txBody>
          <a:bodyPr wrap="square" lIns="0" tIns="0" rIns="0" bIns="0" rtlCol="0" anchor="ctr"/>
          <a:lstStyle/>
          <a:p>
            <a:pPr marL="0" indent="0">
              <a:lnSpc>
                <a:spcPct val="140000"/>
              </a:lnSpc>
              <a:buNone/>
            </a:pPr>
            <a:r>
              <a:rPr lang="en-US" sz="1200" dirty="0">
                <a:solidFill>
                  <a:srgbClr val="1E293B"/>
                </a:solidFill>
                <a:latin typeface="Arial" pitchFamily="34" charset="0"/>
                <a:ea typeface="Arial" pitchFamily="34" charset="-122"/>
                <a:cs typeface="Arial" pitchFamily="34" charset="-120"/>
              </a:rPr>
              <a:t>Makes random splits of the data. Rare, different records get isolated in very few splits — those are the anomalies. Works on all 330,268 records with no labels.</a:t>
            </a:r>
            <a:endParaRPr lang="en-US" sz="1200" dirty="0"/>
          </a:p>
        </p:txBody>
      </p:sp>
      <p:sp>
        <p:nvSpPr>
          <p:cNvPr id="21" name="Shape 19"/>
          <p:cNvSpPr/>
          <p:nvPr/>
        </p:nvSpPr>
        <p:spPr>
          <a:xfrm>
            <a:off x="4663440" y="2743200"/>
            <a:ext cx="4023360" cy="210312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22" name="Text 20"/>
          <p:cNvSpPr/>
          <p:nvPr/>
        </p:nvSpPr>
        <p:spPr>
          <a:xfrm>
            <a:off x="4828032" y="2852928"/>
            <a:ext cx="3657600" cy="292608"/>
          </a:xfrm>
          <a:prstGeom prst="rect">
            <a:avLst/>
          </a:prstGeom>
          <a:noFill/>
          <a:ln/>
        </p:spPr>
        <p:txBody>
          <a:bodyPr wrap="square" lIns="0" tIns="0" rIns="0" bIns="0" rtlCol="0" anchor="ctr"/>
          <a:lstStyle/>
          <a:p>
            <a:pPr marL="0" indent="0">
              <a:buNone/>
            </a:pPr>
            <a:r>
              <a:rPr lang="en-US" sz="1400" b="1" dirty="0">
                <a:solidFill>
                  <a:srgbClr val="0D1B2A"/>
                </a:solidFill>
                <a:latin typeface="Arial" pitchFamily="34" charset="0"/>
                <a:ea typeface="Arial" pitchFamily="34" charset="-122"/>
                <a:cs typeface="Arial" pitchFamily="34" charset="-120"/>
              </a:rPr>
              <a:t>Local Outlier Factor</a:t>
            </a:r>
            <a:endParaRPr lang="en-US" sz="1400" dirty="0"/>
          </a:p>
        </p:txBody>
      </p:sp>
      <p:sp>
        <p:nvSpPr>
          <p:cNvPr id="23" name="Text 21"/>
          <p:cNvSpPr/>
          <p:nvPr/>
        </p:nvSpPr>
        <p:spPr>
          <a:xfrm>
            <a:off x="4828032" y="3200400"/>
            <a:ext cx="3703320" cy="1463040"/>
          </a:xfrm>
          <a:prstGeom prst="rect">
            <a:avLst/>
          </a:prstGeom>
          <a:noFill/>
          <a:ln/>
        </p:spPr>
        <p:txBody>
          <a:bodyPr wrap="square" lIns="0" tIns="0" rIns="0" bIns="0" rtlCol="0" anchor="ctr"/>
          <a:lstStyle/>
          <a:p>
            <a:pPr marL="0" indent="0">
              <a:lnSpc>
                <a:spcPct val="140000"/>
              </a:lnSpc>
              <a:buNone/>
            </a:pPr>
            <a:r>
              <a:rPr lang="en-US" sz="1200" dirty="0">
                <a:solidFill>
                  <a:srgbClr val="1E293B"/>
                </a:solidFill>
                <a:latin typeface="Arial" pitchFamily="34" charset="0"/>
                <a:ea typeface="Arial" pitchFamily="34" charset="-122"/>
                <a:cs typeface="Arial" pitchFamily="34" charset="-120"/>
              </a:rPr>
              <a:t>Measures how isolated a record is from its neighbours — like spotting someone standing alone at a party. Independently flagged 1.99%, matching Isolation Forest.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320040"/>
          </a:xfrm>
          <a:prstGeom prst="rect">
            <a:avLst/>
          </a:prstGeom>
          <a:noFill/>
          <a:ln/>
        </p:spPr>
        <p:txBody>
          <a:bodyPr wrap="square" lIns="0" tIns="0" rIns="0" bIns="0" rtlCol="0" anchor="ctr"/>
          <a:lstStyle/>
          <a:p>
            <a:pPr marL="0" indent="0" algn="ctr">
              <a:buNone/>
            </a:pPr>
            <a:r>
              <a:rPr lang="en-US" sz="1100" b="1" kern="0" spc="300" dirty="0">
                <a:solidFill>
                  <a:srgbClr val="00B4D8"/>
                </a:solidFill>
                <a:latin typeface="Arial" pitchFamily="34" charset="0"/>
                <a:ea typeface="Arial" pitchFamily="34" charset="-122"/>
                <a:cs typeface="Arial" pitchFamily="34" charset="-120"/>
              </a:rPr>
              <a:t>KEY FINDING</a:t>
            </a:r>
            <a:endParaRPr lang="en-US" sz="1100" dirty="0"/>
          </a:p>
        </p:txBody>
      </p:sp>
      <p:sp>
        <p:nvSpPr>
          <p:cNvPr id="3" name="Text 1"/>
          <p:cNvSpPr/>
          <p:nvPr/>
        </p:nvSpPr>
        <p:spPr>
          <a:xfrm>
            <a:off x="457200" y="585216"/>
            <a:ext cx="82296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Two Distinct Insider Threat Profiles</a:t>
            </a:r>
            <a:endParaRPr lang="en-US" sz="2000" dirty="0"/>
          </a:p>
        </p:txBody>
      </p:sp>
      <p:sp>
        <p:nvSpPr>
          <p:cNvPr id="4" name="Shape 2"/>
          <p:cNvSpPr/>
          <p:nvPr/>
        </p:nvSpPr>
        <p:spPr>
          <a:xfrm>
            <a:off x="457200" y="1234440"/>
            <a:ext cx="4023360" cy="338328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5" name="Shape 3"/>
          <p:cNvSpPr/>
          <p:nvPr/>
        </p:nvSpPr>
        <p:spPr>
          <a:xfrm>
            <a:off x="457200" y="1234440"/>
            <a:ext cx="4023360" cy="457200"/>
          </a:xfrm>
          <a:prstGeom prst="rect">
            <a:avLst/>
          </a:prstGeom>
          <a:solidFill>
            <a:srgbClr val="EF4444"/>
          </a:solidFill>
          <a:ln/>
        </p:spPr>
        <p:txBody>
          <a:bodyPr/>
          <a:lstStyle/>
          <a:p>
            <a:endParaRPr lang="en-IN"/>
          </a:p>
        </p:txBody>
      </p:sp>
      <p:sp>
        <p:nvSpPr>
          <p:cNvPr id="6" name="Text 4"/>
          <p:cNvSpPr/>
          <p:nvPr/>
        </p:nvSpPr>
        <p:spPr>
          <a:xfrm>
            <a:off x="457200" y="1234440"/>
            <a:ext cx="4023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CHRONIC THREAT</a:t>
            </a:r>
            <a:endParaRPr lang="en-US" sz="1400" dirty="0"/>
          </a:p>
        </p:txBody>
      </p:sp>
      <p:sp>
        <p:nvSpPr>
          <p:cNvPr id="7" name="Text 5"/>
          <p:cNvSpPr/>
          <p:nvPr/>
        </p:nvSpPr>
        <p:spPr>
          <a:xfrm>
            <a:off x="640080" y="1874520"/>
            <a:ext cx="3657600" cy="2560320"/>
          </a:xfrm>
          <a:prstGeom prst="rect">
            <a:avLst/>
          </a:prstGeom>
          <a:noFill/>
          <a:ln/>
        </p:spPr>
        <p:txBody>
          <a:bodyPr wrap="square" lIns="0" tIns="0" rIns="0" bIns="0" rtlCol="0" anchor="ctr"/>
          <a:lstStyle/>
          <a:p>
            <a:pPr marL="0" indent="0">
              <a:lnSpc>
                <a:spcPct val="140000"/>
              </a:lnSpc>
              <a:buNone/>
            </a:pPr>
            <a:r>
              <a:rPr lang="en-US" sz="1300" b="1" dirty="0">
                <a:solidFill>
                  <a:srgbClr val="8BAFD4"/>
                </a:solidFill>
                <a:latin typeface="Arial" pitchFamily="34" charset="0"/>
                <a:ea typeface="Arial" pitchFamily="34" charset="-122"/>
                <a:cs typeface="Arial" pitchFamily="34" charset="-120"/>
              </a:rPr>
              <a:t>Flagged across MANY days</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Sustained suspicious activity over a long period</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 </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Example: user flagged 373 days</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 </a:t>
            </a:r>
            <a:endParaRPr lang="en-US" sz="1300" dirty="0"/>
          </a:p>
          <a:p>
            <a:pPr marL="0" indent="0">
              <a:lnSpc>
                <a:spcPct val="140000"/>
              </a:lnSpc>
              <a:buNone/>
            </a:pPr>
            <a:r>
              <a:rPr lang="en-US" sz="1300" i="1" dirty="0">
                <a:solidFill>
                  <a:srgbClr val="8BAFD4"/>
                </a:solidFill>
                <a:latin typeface="Arial" pitchFamily="34" charset="0"/>
                <a:ea typeface="Arial" pitchFamily="34" charset="-122"/>
                <a:cs typeface="Arial" pitchFamily="34" charset="-120"/>
              </a:rPr>
              <a:t>Indicates: ongoing, systematic data theft</a:t>
            </a:r>
            <a:endParaRPr lang="en-US" sz="1300" dirty="0"/>
          </a:p>
        </p:txBody>
      </p:sp>
      <p:sp>
        <p:nvSpPr>
          <p:cNvPr id="8" name="Shape 6"/>
          <p:cNvSpPr/>
          <p:nvPr/>
        </p:nvSpPr>
        <p:spPr>
          <a:xfrm>
            <a:off x="4663440" y="1234440"/>
            <a:ext cx="4023360" cy="338328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9" name="Shape 7"/>
          <p:cNvSpPr/>
          <p:nvPr/>
        </p:nvSpPr>
        <p:spPr>
          <a:xfrm>
            <a:off x="4663440" y="1234440"/>
            <a:ext cx="4023360" cy="457200"/>
          </a:xfrm>
          <a:prstGeom prst="rect">
            <a:avLst/>
          </a:prstGeom>
          <a:solidFill>
            <a:srgbClr val="F59E0B"/>
          </a:solidFill>
          <a:ln/>
        </p:spPr>
        <p:txBody>
          <a:bodyPr/>
          <a:lstStyle/>
          <a:p>
            <a:endParaRPr lang="en-IN"/>
          </a:p>
        </p:txBody>
      </p:sp>
      <p:sp>
        <p:nvSpPr>
          <p:cNvPr id="10" name="Text 8"/>
          <p:cNvSpPr/>
          <p:nvPr/>
        </p:nvSpPr>
        <p:spPr>
          <a:xfrm>
            <a:off x="4663440" y="1234440"/>
            <a:ext cx="4023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SPIKE THREAT</a:t>
            </a:r>
            <a:endParaRPr lang="en-US" sz="1400" dirty="0"/>
          </a:p>
        </p:txBody>
      </p:sp>
      <p:sp>
        <p:nvSpPr>
          <p:cNvPr id="11" name="Text 9"/>
          <p:cNvSpPr/>
          <p:nvPr/>
        </p:nvSpPr>
        <p:spPr>
          <a:xfrm>
            <a:off x="4846320" y="1874520"/>
            <a:ext cx="3657600" cy="2560320"/>
          </a:xfrm>
          <a:prstGeom prst="rect">
            <a:avLst/>
          </a:prstGeom>
          <a:noFill/>
          <a:ln/>
        </p:spPr>
        <p:txBody>
          <a:bodyPr wrap="square" lIns="0" tIns="0" rIns="0" bIns="0" rtlCol="0" anchor="ctr"/>
          <a:lstStyle/>
          <a:p>
            <a:pPr marL="0" indent="0">
              <a:lnSpc>
                <a:spcPct val="140000"/>
              </a:lnSpc>
              <a:buNone/>
            </a:pPr>
            <a:r>
              <a:rPr lang="en-US" sz="1300" b="1" dirty="0">
                <a:solidFill>
                  <a:srgbClr val="8BAFD4"/>
                </a:solidFill>
                <a:latin typeface="Arial" pitchFamily="34" charset="0"/>
                <a:ea typeface="Arial" pitchFamily="34" charset="-122"/>
                <a:cs typeface="Arial" pitchFamily="34" charset="-120"/>
              </a:rPr>
              <a:t>Flagged on just 1–2 days</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Extreme behaviour in a single burst</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 </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Example: one day, very high score</a:t>
            </a:r>
            <a:endParaRPr lang="en-US" sz="1300" dirty="0"/>
          </a:p>
          <a:p>
            <a:pPr marL="0" indent="0">
              <a:lnSpc>
                <a:spcPct val="140000"/>
              </a:lnSpc>
              <a:buNone/>
            </a:pPr>
            <a:r>
              <a:rPr lang="en-US" sz="1300" dirty="0">
                <a:solidFill>
                  <a:srgbClr val="8BAFD4"/>
                </a:solidFill>
                <a:latin typeface="Arial" pitchFamily="34" charset="0"/>
                <a:ea typeface="Arial" pitchFamily="34" charset="-122"/>
                <a:cs typeface="Arial" pitchFamily="34" charset="-120"/>
              </a:rPr>
              <a:t> </a:t>
            </a:r>
            <a:endParaRPr lang="en-US" sz="1300" dirty="0"/>
          </a:p>
          <a:p>
            <a:pPr marL="0" indent="0">
              <a:lnSpc>
                <a:spcPct val="140000"/>
              </a:lnSpc>
              <a:buNone/>
            </a:pPr>
            <a:r>
              <a:rPr lang="en-US" sz="1300" i="1" dirty="0">
                <a:solidFill>
                  <a:srgbClr val="8BAFD4"/>
                </a:solidFill>
                <a:latin typeface="Arial" pitchFamily="34" charset="0"/>
                <a:ea typeface="Arial" pitchFamily="34" charset="-122"/>
                <a:cs typeface="Arial" pitchFamily="34" charset="-120"/>
              </a:rPr>
              <a:t>Indicates: single large exfiltration event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256032"/>
            <a:ext cx="2743200" cy="274320"/>
          </a:xfrm>
          <a:prstGeom prst="rect">
            <a:avLst/>
          </a:prstGeom>
          <a:solidFill>
            <a:srgbClr val="1B2A4A"/>
          </a:solidFill>
          <a:ln/>
        </p:spPr>
        <p:txBody>
          <a:bodyPr/>
          <a:lstStyle/>
          <a:p>
            <a:endParaRPr lang="en-IN"/>
          </a:p>
        </p:txBody>
      </p:sp>
      <p:sp>
        <p:nvSpPr>
          <p:cNvPr id="3" name="Text 1"/>
          <p:cNvSpPr/>
          <p:nvPr/>
        </p:nvSpPr>
        <p:spPr>
          <a:xfrm>
            <a:off x="457200" y="256032"/>
            <a:ext cx="2743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SUPERVISED MODEL</a:t>
            </a:r>
            <a:endParaRPr lang="en-US" sz="100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marL="0" indent="0">
              <a:buNone/>
            </a:pPr>
            <a:r>
              <a:rPr lang="en-US" sz="2700" b="1" dirty="0">
                <a:solidFill>
                  <a:srgbClr val="0D1B2A"/>
                </a:solidFill>
                <a:latin typeface="Arial" pitchFamily="34" charset="0"/>
                <a:ea typeface="Arial" pitchFamily="34" charset="-122"/>
                <a:cs typeface="Arial" pitchFamily="34" charset="-120"/>
              </a:rPr>
              <a:t>Random Forest — Classification Results</a:t>
            </a:r>
            <a:endParaRPr lang="en-US" sz="2700" dirty="0"/>
          </a:p>
        </p:txBody>
      </p:sp>
      <p:sp>
        <p:nvSpPr>
          <p:cNvPr id="5" name="Text 3"/>
          <p:cNvSpPr/>
          <p:nvPr/>
        </p:nvSpPr>
        <p:spPr>
          <a:xfrm>
            <a:off x="457200" y="1133856"/>
            <a:ext cx="8229600" cy="292608"/>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Trained on ground-truth labels, evaluated on unseen data</a:t>
            </a:r>
            <a:endParaRPr lang="en-US" sz="1300" dirty="0"/>
          </a:p>
        </p:txBody>
      </p:sp>
      <p:sp>
        <p:nvSpPr>
          <p:cNvPr id="6" name="Shape 4"/>
          <p:cNvSpPr/>
          <p:nvPr/>
        </p:nvSpPr>
        <p:spPr>
          <a:xfrm>
            <a:off x="457200" y="146304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7" name="Shape 5"/>
          <p:cNvSpPr/>
          <p:nvPr/>
        </p:nvSpPr>
        <p:spPr>
          <a:xfrm>
            <a:off x="457200" y="1463040"/>
            <a:ext cx="1920240" cy="54864"/>
          </a:xfrm>
          <a:prstGeom prst="rect">
            <a:avLst/>
          </a:prstGeom>
          <a:solidFill>
            <a:srgbClr val="10B981"/>
          </a:solidFill>
          <a:ln/>
        </p:spPr>
        <p:txBody>
          <a:bodyPr/>
          <a:lstStyle/>
          <a:p>
            <a:endParaRPr lang="en-IN"/>
          </a:p>
        </p:txBody>
      </p:sp>
      <p:sp>
        <p:nvSpPr>
          <p:cNvPr id="8" name="Text 6"/>
          <p:cNvSpPr/>
          <p:nvPr/>
        </p:nvSpPr>
        <p:spPr>
          <a:xfrm>
            <a:off x="457200" y="160934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0.88</a:t>
            </a:r>
            <a:endParaRPr lang="en-US" sz="3000" dirty="0"/>
          </a:p>
        </p:txBody>
      </p:sp>
      <p:sp>
        <p:nvSpPr>
          <p:cNvPr id="9" name="Text 7"/>
          <p:cNvSpPr/>
          <p:nvPr/>
        </p:nvSpPr>
        <p:spPr>
          <a:xfrm>
            <a:off x="457200" y="213969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ROC-AUC</a:t>
            </a:r>
            <a:endParaRPr lang="en-US" sz="1100" dirty="0"/>
          </a:p>
        </p:txBody>
      </p:sp>
      <p:sp>
        <p:nvSpPr>
          <p:cNvPr id="10" name="Shape 8"/>
          <p:cNvSpPr/>
          <p:nvPr/>
        </p:nvSpPr>
        <p:spPr>
          <a:xfrm>
            <a:off x="2633472" y="146304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1" name="Shape 9"/>
          <p:cNvSpPr/>
          <p:nvPr/>
        </p:nvSpPr>
        <p:spPr>
          <a:xfrm>
            <a:off x="2633472" y="1463040"/>
            <a:ext cx="1920240" cy="54864"/>
          </a:xfrm>
          <a:prstGeom prst="rect">
            <a:avLst/>
          </a:prstGeom>
          <a:solidFill>
            <a:srgbClr val="00B4D8"/>
          </a:solidFill>
          <a:ln/>
        </p:spPr>
        <p:txBody>
          <a:bodyPr/>
          <a:lstStyle/>
          <a:p>
            <a:endParaRPr lang="en-IN"/>
          </a:p>
        </p:txBody>
      </p:sp>
      <p:sp>
        <p:nvSpPr>
          <p:cNvPr id="12" name="Text 10"/>
          <p:cNvSpPr/>
          <p:nvPr/>
        </p:nvSpPr>
        <p:spPr>
          <a:xfrm>
            <a:off x="2633472" y="160934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0.95</a:t>
            </a:r>
            <a:endParaRPr lang="en-US" sz="3000" dirty="0"/>
          </a:p>
        </p:txBody>
      </p:sp>
      <p:sp>
        <p:nvSpPr>
          <p:cNvPr id="13" name="Text 11"/>
          <p:cNvSpPr/>
          <p:nvPr/>
        </p:nvSpPr>
        <p:spPr>
          <a:xfrm>
            <a:off x="2633472" y="213969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Precision</a:t>
            </a:r>
            <a:endParaRPr lang="en-US" sz="1100" dirty="0"/>
          </a:p>
        </p:txBody>
      </p:sp>
      <p:sp>
        <p:nvSpPr>
          <p:cNvPr id="14" name="Shape 12"/>
          <p:cNvSpPr/>
          <p:nvPr/>
        </p:nvSpPr>
        <p:spPr>
          <a:xfrm>
            <a:off x="4809744" y="146304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5" name="Shape 13"/>
          <p:cNvSpPr/>
          <p:nvPr/>
        </p:nvSpPr>
        <p:spPr>
          <a:xfrm>
            <a:off x="4809744" y="1463040"/>
            <a:ext cx="1920240" cy="54864"/>
          </a:xfrm>
          <a:prstGeom prst="rect">
            <a:avLst/>
          </a:prstGeom>
          <a:solidFill>
            <a:srgbClr val="F59E0B"/>
          </a:solidFill>
          <a:ln/>
        </p:spPr>
        <p:txBody>
          <a:bodyPr/>
          <a:lstStyle/>
          <a:p>
            <a:endParaRPr lang="en-IN"/>
          </a:p>
        </p:txBody>
      </p:sp>
      <p:sp>
        <p:nvSpPr>
          <p:cNvPr id="16" name="Text 14"/>
          <p:cNvSpPr/>
          <p:nvPr/>
        </p:nvSpPr>
        <p:spPr>
          <a:xfrm>
            <a:off x="4809744" y="160934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0.31</a:t>
            </a:r>
            <a:endParaRPr lang="en-US" sz="3000" dirty="0"/>
          </a:p>
        </p:txBody>
      </p:sp>
      <p:sp>
        <p:nvSpPr>
          <p:cNvPr id="17" name="Text 15"/>
          <p:cNvSpPr/>
          <p:nvPr/>
        </p:nvSpPr>
        <p:spPr>
          <a:xfrm>
            <a:off x="4809744" y="213969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Recall</a:t>
            </a:r>
            <a:endParaRPr lang="en-US" sz="1100" dirty="0"/>
          </a:p>
        </p:txBody>
      </p:sp>
      <p:sp>
        <p:nvSpPr>
          <p:cNvPr id="18" name="Shape 16"/>
          <p:cNvSpPr/>
          <p:nvPr/>
        </p:nvSpPr>
        <p:spPr>
          <a:xfrm>
            <a:off x="6986016" y="1463040"/>
            <a:ext cx="1920240" cy="105156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19" name="Shape 17"/>
          <p:cNvSpPr/>
          <p:nvPr/>
        </p:nvSpPr>
        <p:spPr>
          <a:xfrm>
            <a:off x="6986016" y="1463040"/>
            <a:ext cx="1920240" cy="54864"/>
          </a:xfrm>
          <a:prstGeom prst="rect">
            <a:avLst/>
          </a:prstGeom>
          <a:solidFill>
            <a:srgbClr val="0D1B2A"/>
          </a:solidFill>
          <a:ln/>
        </p:spPr>
        <p:txBody>
          <a:bodyPr/>
          <a:lstStyle/>
          <a:p>
            <a:endParaRPr lang="en-IN"/>
          </a:p>
        </p:txBody>
      </p:sp>
      <p:sp>
        <p:nvSpPr>
          <p:cNvPr id="20" name="Text 18"/>
          <p:cNvSpPr/>
          <p:nvPr/>
        </p:nvSpPr>
        <p:spPr>
          <a:xfrm>
            <a:off x="6986016" y="1609344"/>
            <a:ext cx="1920240" cy="548640"/>
          </a:xfrm>
          <a:prstGeom prst="rect">
            <a:avLst/>
          </a:prstGeom>
          <a:noFill/>
          <a:ln/>
        </p:spPr>
        <p:txBody>
          <a:bodyPr wrap="square" lIns="0" tIns="0" rIns="0" bIns="0" rtlCol="0" anchor="ctr"/>
          <a:lstStyle/>
          <a:p>
            <a:pPr marL="0" indent="0" algn="ctr">
              <a:buNone/>
            </a:pPr>
            <a:r>
              <a:rPr lang="en-US" sz="3000" b="1" dirty="0">
                <a:solidFill>
                  <a:srgbClr val="0D1B2A"/>
                </a:solidFill>
                <a:latin typeface="Arial" pitchFamily="34" charset="0"/>
                <a:ea typeface="Arial" pitchFamily="34" charset="-122"/>
                <a:cs typeface="Arial" pitchFamily="34" charset="-120"/>
              </a:rPr>
              <a:t>2</a:t>
            </a:r>
            <a:endParaRPr lang="en-US" sz="3000" dirty="0"/>
          </a:p>
        </p:txBody>
      </p:sp>
      <p:sp>
        <p:nvSpPr>
          <p:cNvPr id="21" name="Text 19"/>
          <p:cNvSpPr/>
          <p:nvPr/>
        </p:nvSpPr>
        <p:spPr>
          <a:xfrm>
            <a:off x="6986016" y="2139696"/>
            <a:ext cx="1920240" cy="365760"/>
          </a:xfrm>
          <a:prstGeom prst="rect">
            <a:avLst/>
          </a:prstGeom>
          <a:noFill/>
          <a:ln/>
        </p:spPr>
        <p:txBody>
          <a:bodyPr wrap="square" lIns="0" tIns="0" rIns="0" bIns="0" rtlCol="0" anchor="ctr"/>
          <a:lstStyle/>
          <a:p>
            <a:pPr marL="0" indent="0" algn="ctr">
              <a:buNone/>
            </a:pPr>
            <a:r>
              <a:rPr lang="en-US" sz="1100" dirty="0">
                <a:solidFill>
                  <a:srgbClr val="64748B"/>
                </a:solidFill>
                <a:latin typeface="Arial" pitchFamily="34" charset="0"/>
                <a:ea typeface="Arial" pitchFamily="34" charset="-122"/>
                <a:cs typeface="Arial" pitchFamily="34" charset="-120"/>
              </a:rPr>
              <a:t>False Alarms</a:t>
            </a:r>
            <a:endParaRPr lang="en-US" sz="1100" dirty="0"/>
          </a:p>
        </p:txBody>
      </p:sp>
      <p:sp>
        <p:nvSpPr>
          <p:cNvPr id="22" name="Shape 20"/>
          <p:cNvSpPr/>
          <p:nvPr/>
        </p:nvSpPr>
        <p:spPr>
          <a:xfrm>
            <a:off x="457200" y="2743200"/>
            <a:ext cx="8229600" cy="210312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23" name="Text 21"/>
          <p:cNvSpPr/>
          <p:nvPr/>
        </p:nvSpPr>
        <p:spPr>
          <a:xfrm>
            <a:off x="640080" y="2852928"/>
            <a:ext cx="7772400" cy="292608"/>
          </a:xfrm>
          <a:prstGeom prst="rect">
            <a:avLst/>
          </a:prstGeom>
          <a:noFill/>
          <a:ln/>
        </p:spPr>
        <p:txBody>
          <a:bodyPr wrap="square" lIns="0" tIns="0" rIns="0" bIns="0" rtlCol="0" anchor="ctr"/>
          <a:lstStyle/>
          <a:p>
            <a:pPr marL="0" indent="0">
              <a:buNone/>
            </a:pPr>
            <a:r>
              <a:rPr lang="en-US" sz="1400" b="1" dirty="0">
                <a:solidFill>
                  <a:srgbClr val="0D1B2A"/>
                </a:solidFill>
                <a:latin typeface="Arial" pitchFamily="34" charset="0"/>
                <a:ea typeface="Arial" pitchFamily="34" charset="-122"/>
                <a:cs typeface="Arial" pitchFamily="34" charset="-120"/>
              </a:rPr>
              <a:t>What these numbers mean</a:t>
            </a:r>
            <a:endParaRPr lang="en-US" sz="1400" dirty="0"/>
          </a:p>
        </p:txBody>
      </p:sp>
      <p:sp>
        <p:nvSpPr>
          <p:cNvPr id="24" name="Text 22"/>
          <p:cNvSpPr/>
          <p:nvPr/>
        </p:nvSpPr>
        <p:spPr>
          <a:xfrm>
            <a:off x="640080" y="3200400"/>
            <a:ext cx="7863840" cy="1554480"/>
          </a:xfrm>
          <a:prstGeom prst="rect">
            <a:avLst/>
          </a:prstGeom>
          <a:noFill/>
          <a:ln/>
        </p:spPr>
        <p:txBody>
          <a:bodyPr wrap="square" lIns="0" tIns="0" rIns="0" bIns="0" rtlCol="0" anchor="ctr"/>
          <a:lstStyle/>
          <a:p>
            <a:pPr marL="0" indent="0">
              <a:lnSpc>
                <a:spcPct val="150000"/>
              </a:lnSpc>
              <a:buNone/>
            </a:pPr>
            <a:r>
              <a:rPr lang="en-US" sz="1300" b="1" dirty="0">
                <a:solidFill>
                  <a:srgbClr val="1E293B"/>
                </a:solidFill>
                <a:latin typeface="Arial" pitchFamily="34" charset="0"/>
                <a:ea typeface="Arial" pitchFamily="34" charset="-122"/>
                <a:cs typeface="Arial" pitchFamily="34" charset="-120"/>
              </a:rPr>
              <a:t>ROC-AUC 0.88 — </a:t>
            </a:r>
            <a:r>
              <a:rPr lang="en-US" sz="1300" dirty="0">
                <a:solidFill>
                  <a:srgbClr val="1E293B"/>
                </a:solidFill>
                <a:latin typeface="Arial" pitchFamily="34" charset="0"/>
                <a:ea typeface="Arial" pitchFamily="34" charset="-122"/>
                <a:cs typeface="Arial" pitchFamily="34" charset="-120"/>
              </a:rPr>
              <a:t>strong ability to separate malicious from normal behaviour.</a:t>
            </a:r>
            <a:endParaRPr lang="en-US" sz="1300" dirty="0"/>
          </a:p>
          <a:p>
            <a:pPr marL="0" indent="0">
              <a:lnSpc>
                <a:spcPct val="150000"/>
              </a:lnSpc>
              <a:buNone/>
            </a:pPr>
            <a:r>
              <a:rPr lang="en-US" sz="1300" b="1" dirty="0">
                <a:solidFill>
                  <a:srgbClr val="1E293B"/>
                </a:solidFill>
                <a:latin typeface="Arial" pitchFamily="34" charset="0"/>
                <a:ea typeface="Arial" pitchFamily="34" charset="-122"/>
                <a:cs typeface="Arial" pitchFamily="34" charset="-120"/>
              </a:rPr>
              <a:t>Precision 0.95 — </a:t>
            </a:r>
            <a:r>
              <a:rPr lang="en-US" sz="1300" dirty="0">
                <a:solidFill>
                  <a:srgbClr val="1E293B"/>
                </a:solidFill>
                <a:latin typeface="Arial" pitchFamily="34" charset="0"/>
                <a:ea typeface="Arial" pitchFamily="34" charset="-122"/>
                <a:cs typeface="Arial" pitchFamily="34" charset="-120"/>
              </a:rPr>
              <a:t>when the model raises an alarm, it is correct 95% of the time.</a:t>
            </a:r>
            <a:endParaRPr lang="en-US" sz="1300" dirty="0"/>
          </a:p>
          <a:p>
            <a:pPr marL="0" indent="0">
              <a:lnSpc>
                <a:spcPct val="150000"/>
              </a:lnSpc>
              <a:buNone/>
            </a:pPr>
            <a:r>
              <a:rPr lang="en-US" sz="1300" b="1" dirty="0">
                <a:solidFill>
                  <a:srgbClr val="1E293B"/>
                </a:solidFill>
                <a:latin typeface="Arial" pitchFamily="34" charset="0"/>
                <a:ea typeface="Arial" pitchFamily="34" charset="-122"/>
                <a:cs typeface="Arial" pitchFamily="34" charset="-120"/>
              </a:rPr>
              <a:t>Recall 0.31 — </a:t>
            </a:r>
            <a:r>
              <a:rPr lang="en-US" sz="1300" dirty="0">
                <a:solidFill>
                  <a:srgbClr val="1E293B"/>
                </a:solidFill>
                <a:latin typeface="Arial" pitchFamily="34" charset="0"/>
                <a:ea typeface="Arial" pitchFamily="34" charset="-122"/>
                <a:cs typeface="Arial" pitchFamily="34" charset="-120"/>
              </a:rPr>
              <a:t>catches about 1 in 3 malicious records (calibrated to be cautious).</a:t>
            </a:r>
            <a:endParaRPr lang="en-US" sz="1300" dirty="0"/>
          </a:p>
          <a:p>
            <a:pPr marL="0" indent="0">
              <a:lnSpc>
                <a:spcPct val="150000"/>
              </a:lnSpc>
              <a:buNone/>
            </a:pPr>
            <a:r>
              <a:rPr lang="en-US" sz="1300" b="1" dirty="0">
                <a:solidFill>
                  <a:srgbClr val="1E293B"/>
                </a:solidFill>
                <a:latin typeface="Arial" pitchFamily="34" charset="0"/>
                <a:ea typeface="Arial" pitchFamily="34" charset="-122"/>
                <a:cs typeface="Arial" pitchFamily="34" charset="-120"/>
              </a:rPr>
              <a:t>Only 2 false alarms </a:t>
            </a:r>
            <a:r>
              <a:rPr lang="en-US" sz="1300" dirty="0">
                <a:solidFill>
                  <a:srgbClr val="1E293B"/>
                </a:solidFill>
                <a:latin typeface="Arial" pitchFamily="34" charset="0"/>
                <a:ea typeface="Arial" pitchFamily="34" charset="-122"/>
                <a:cs typeface="Arial" pitchFamily="34" charset="-120"/>
              </a:rPr>
              <a:t>across ~99,000 test records — highly trustworthy alerts.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457200" y="256032"/>
            <a:ext cx="2743200" cy="274320"/>
          </a:xfrm>
          <a:prstGeom prst="rect">
            <a:avLst/>
          </a:prstGeom>
          <a:solidFill>
            <a:srgbClr val="10B981"/>
          </a:solidFill>
          <a:ln/>
        </p:spPr>
        <p:txBody>
          <a:bodyPr/>
          <a:lstStyle/>
          <a:p>
            <a:endParaRPr lang="en-IN"/>
          </a:p>
        </p:txBody>
      </p:sp>
      <p:sp>
        <p:nvSpPr>
          <p:cNvPr id="3" name="Text 1"/>
          <p:cNvSpPr/>
          <p:nvPr/>
        </p:nvSpPr>
        <p:spPr>
          <a:xfrm>
            <a:off x="457200" y="256032"/>
            <a:ext cx="274320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VALIDATION</a:t>
            </a:r>
            <a:endParaRPr lang="en-US" sz="1000" dirty="0"/>
          </a:p>
        </p:txBody>
      </p:sp>
      <p:sp>
        <p:nvSpPr>
          <p:cNvPr id="4" name="Text 2"/>
          <p:cNvSpPr/>
          <p:nvPr/>
        </p:nvSpPr>
        <p:spPr>
          <a:xfrm>
            <a:off x="457200" y="603504"/>
            <a:ext cx="8229600" cy="548640"/>
          </a:xfrm>
          <a:prstGeom prst="rect">
            <a:avLst/>
          </a:prstGeom>
          <a:noFill/>
          <a:ln/>
        </p:spPr>
        <p:txBody>
          <a:bodyPr wrap="square" lIns="0" tIns="0" rIns="0" bIns="0" rtlCol="0" anchor="ctr"/>
          <a:lstStyle/>
          <a:p>
            <a:pPr marL="0" indent="0">
              <a:buNone/>
            </a:pPr>
            <a:r>
              <a:rPr lang="en-US" sz="2700" b="1" dirty="0">
                <a:solidFill>
                  <a:srgbClr val="0D1B2A"/>
                </a:solidFill>
                <a:latin typeface="Arial" pitchFamily="34" charset="0"/>
                <a:ea typeface="Arial" pitchFamily="34" charset="-122"/>
                <a:cs typeface="Arial" pitchFamily="34" charset="-120"/>
              </a:rPr>
              <a:t>Did We Catch Real Insiders?</a:t>
            </a:r>
            <a:endParaRPr lang="en-US" sz="2700" dirty="0"/>
          </a:p>
        </p:txBody>
      </p:sp>
      <p:sp>
        <p:nvSpPr>
          <p:cNvPr id="5" name="Text 3"/>
          <p:cNvSpPr/>
          <p:nvPr/>
        </p:nvSpPr>
        <p:spPr>
          <a:xfrm>
            <a:off x="457200" y="1133856"/>
            <a:ext cx="8229600" cy="292608"/>
          </a:xfrm>
          <a:prstGeom prst="rect">
            <a:avLst/>
          </a:prstGeom>
          <a:noFill/>
          <a:ln/>
        </p:spPr>
        <p:txBody>
          <a:bodyPr wrap="square" lIns="0" tIns="0" rIns="0" bIns="0" rtlCol="0" anchor="ctr"/>
          <a:lstStyle/>
          <a:p>
            <a:pPr marL="0" indent="0">
              <a:buNone/>
            </a:pPr>
            <a:r>
              <a:rPr lang="en-US" sz="1300" dirty="0">
                <a:solidFill>
                  <a:srgbClr val="64748B"/>
                </a:solidFill>
                <a:latin typeface="Arial" pitchFamily="34" charset="0"/>
                <a:ea typeface="Arial" pitchFamily="34" charset="-122"/>
                <a:cs typeface="Arial" pitchFamily="34" charset="-120"/>
              </a:rPr>
              <a:t>Cross-checking model predictions against the confirmed answer sheet</a:t>
            </a:r>
            <a:endParaRPr lang="en-US" sz="1300" dirty="0"/>
          </a:p>
        </p:txBody>
      </p:sp>
      <p:sp>
        <p:nvSpPr>
          <p:cNvPr id="6" name="Shape 4"/>
          <p:cNvSpPr/>
          <p:nvPr/>
        </p:nvSpPr>
        <p:spPr>
          <a:xfrm>
            <a:off x="457200" y="1463040"/>
            <a:ext cx="8229600" cy="1371600"/>
          </a:xfrm>
          <a:prstGeom prst="rect">
            <a:avLst/>
          </a:prstGeom>
          <a:solidFill>
            <a:srgbClr val="FFFFFF"/>
          </a:solidFill>
          <a:ln/>
          <a:effectLst>
            <a:outerShdw blurRad="101600" dist="25400" dir="2700000" algn="bl" rotWithShape="0">
              <a:srgbClr val="000000">
                <a:alpha val="10000"/>
              </a:srgbClr>
            </a:outerShdw>
          </a:effectLst>
        </p:spPr>
        <p:txBody>
          <a:bodyPr/>
          <a:lstStyle/>
          <a:p>
            <a:endParaRPr lang="en-IN"/>
          </a:p>
        </p:txBody>
      </p:sp>
      <p:sp>
        <p:nvSpPr>
          <p:cNvPr id="7" name="Text 5"/>
          <p:cNvSpPr/>
          <p:nvPr/>
        </p:nvSpPr>
        <p:spPr>
          <a:xfrm>
            <a:off x="640080" y="1572768"/>
            <a:ext cx="7772400" cy="320040"/>
          </a:xfrm>
          <a:prstGeom prst="rect">
            <a:avLst/>
          </a:prstGeom>
          <a:noFill/>
          <a:ln/>
        </p:spPr>
        <p:txBody>
          <a:bodyPr wrap="square" lIns="0" tIns="0" rIns="0" bIns="0" rtlCol="0" anchor="ctr"/>
          <a:lstStyle/>
          <a:p>
            <a:pPr marL="0" indent="0">
              <a:buNone/>
            </a:pPr>
            <a:r>
              <a:rPr lang="en-US" sz="1400" b="1" dirty="0">
                <a:solidFill>
                  <a:srgbClr val="0D1B2A"/>
                </a:solidFill>
                <a:latin typeface="Arial" pitchFamily="34" charset="0"/>
                <a:ea typeface="Arial" pitchFamily="34" charset="-122"/>
                <a:cs typeface="Arial" pitchFamily="34" charset="-120"/>
              </a:rPr>
              <a:t>191 confirmed insiders in the ground-truth file</a:t>
            </a:r>
            <a:endParaRPr lang="en-US" sz="1400" dirty="0"/>
          </a:p>
        </p:txBody>
      </p:sp>
      <p:sp>
        <p:nvSpPr>
          <p:cNvPr id="8" name="Text 6"/>
          <p:cNvSpPr/>
          <p:nvPr/>
        </p:nvSpPr>
        <p:spPr>
          <a:xfrm>
            <a:off x="640080" y="1938528"/>
            <a:ext cx="7863840" cy="777240"/>
          </a:xfrm>
          <a:prstGeom prst="rect">
            <a:avLst/>
          </a:prstGeom>
          <a:noFill/>
          <a:ln/>
        </p:spPr>
        <p:txBody>
          <a:bodyPr wrap="square" lIns="0" tIns="0" rIns="0" bIns="0" rtlCol="0" anchor="ctr"/>
          <a:lstStyle/>
          <a:p>
            <a:pPr marL="0" indent="0">
              <a:lnSpc>
                <a:spcPct val="150000"/>
              </a:lnSpc>
              <a:buNone/>
            </a:pPr>
            <a:r>
              <a:rPr lang="en-US" sz="1300" b="1" dirty="0">
                <a:solidFill>
                  <a:srgbClr val="1E293B"/>
                </a:solidFill>
                <a:latin typeface="Arial" pitchFamily="34" charset="0"/>
                <a:ea typeface="Arial" pitchFamily="34" charset="-122"/>
                <a:cs typeface="Arial" pitchFamily="34" charset="-120"/>
              </a:rPr>
              <a:t>Isolation Forest (no labels): </a:t>
            </a:r>
            <a:r>
              <a:rPr lang="en-US" sz="1300" dirty="0">
                <a:solidFill>
                  <a:srgbClr val="1E293B"/>
                </a:solidFill>
                <a:latin typeface="Arial" pitchFamily="34" charset="0"/>
                <a:ea typeface="Arial" pitchFamily="34" charset="-122"/>
                <a:cs typeface="Arial" pitchFamily="34" charset="-120"/>
              </a:rPr>
              <a:t>caught 38 real insiders — 20%</a:t>
            </a:r>
            <a:endParaRPr lang="en-US" sz="1300" dirty="0"/>
          </a:p>
          <a:p>
            <a:pPr marL="0" indent="0">
              <a:lnSpc>
                <a:spcPct val="150000"/>
              </a:lnSpc>
              <a:buNone/>
            </a:pPr>
            <a:r>
              <a:rPr lang="en-US" sz="1300" b="1" dirty="0">
                <a:solidFill>
                  <a:srgbClr val="1E293B"/>
                </a:solidFill>
                <a:latin typeface="Arial" pitchFamily="34" charset="0"/>
                <a:ea typeface="Arial" pitchFamily="34" charset="-122"/>
                <a:cs typeface="Arial" pitchFamily="34" charset="-120"/>
              </a:rPr>
              <a:t>Random Forest (trained): </a:t>
            </a:r>
            <a:r>
              <a:rPr lang="en-US" sz="1300" dirty="0">
                <a:solidFill>
                  <a:srgbClr val="1E293B"/>
                </a:solidFill>
                <a:latin typeface="Arial" pitchFamily="34" charset="0"/>
                <a:ea typeface="Arial" pitchFamily="34" charset="-122"/>
                <a:cs typeface="Arial" pitchFamily="34" charset="-120"/>
              </a:rPr>
              <a:t>caught 70 real insiders — 36.6%, only 2 false alarms</a:t>
            </a:r>
            <a:endParaRPr lang="en-US" sz="1300" dirty="0"/>
          </a:p>
        </p:txBody>
      </p:sp>
      <p:sp>
        <p:nvSpPr>
          <p:cNvPr id="9" name="Shape 7"/>
          <p:cNvSpPr/>
          <p:nvPr/>
        </p:nvSpPr>
        <p:spPr>
          <a:xfrm>
            <a:off x="457200" y="2971800"/>
            <a:ext cx="8229600" cy="1737360"/>
          </a:xfrm>
          <a:prstGeom prst="rect">
            <a:avLst/>
          </a:prstGeom>
          <a:solidFill>
            <a:srgbClr val="0D1B2A"/>
          </a:solidFill>
          <a:ln/>
          <a:effectLst>
            <a:outerShdw blurRad="101600" dist="25400" dir="2700000" algn="bl" rotWithShape="0">
              <a:srgbClr val="000000">
                <a:alpha val="10000"/>
              </a:srgbClr>
            </a:outerShdw>
          </a:effectLst>
        </p:spPr>
        <p:txBody>
          <a:bodyPr/>
          <a:lstStyle/>
          <a:p>
            <a:endParaRPr lang="en-IN"/>
          </a:p>
        </p:txBody>
      </p:sp>
      <p:sp>
        <p:nvSpPr>
          <p:cNvPr id="10" name="Text 8"/>
          <p:cNvSpPr/>
          <p:nvPr/>
        </p:nvSpPr>
        <p:spPr>
          <a:xfrm>
            <a:off x="640080" y="3108960"/>
            <a:ext cx="7772400" cy="320040"/>
          </a:xfrm>
          <a:prstGeom prst="rect">
            <a:avLst/>
          </a:prstGeom>
          <a:noFill/>
          <a:ln/>
        </p:spPr>
        <p:txBody>
          <a:bodyPr wrap="square" lIns="0" tIns="0" rIns="0" bIns="0" rtlCol="0" anchor="ctr"/>
          <a:lstStyle/>
          <a:p>
            <a:pPr marL="0" indent="0">
              <a:buNone/>
            </a:pPr>
            <a:r>
              <a:rPr lang="en-US" sz="1400" b="1" dirty="0">
                <a:solidFill>
                  <a:srgbClr val="00B4D8"/>
                </a:solidFill>
                <a:latin typeface="Arial" pitchFamily="34" charset="0"/>
                <a:ea typeface="Arial" pitchFamily="34" charset="-122"/>
                <a:cs typeface="Arial" pitchFamily="34" charset="-120"/>
              </a:rPr>
              <a:t>Proof the model LEARNS (not copies the answers)</a:t>
            </a:r>
            <a:endParaRPr lang="en-US" sz="1400" dirty="0"/>
          </a:p>
        </p:txBody>
      </p:sp>
      <p:sp>
        <p:nvSpPr>
          <p:cNvPr id="11" name="Text 9"/>
          <p:cNvSpPr/>
          <p:nvPr/>
        </p:nvSpPr>
        <p:spPr>
          <a:xfrm>
            <a:off x="640080" y="3456432"/>
            <a:ext cx="7863840" cy="1188720"/>
          </a:xfrm>
          <a:prstGeom prst="rect">
            <a:avLst/>
          </a:prstGeom>
          <a:noFill/>
          <a:ln/>
        </p:spPr>
        <p:txBody>
          <a:bodyPr wrap="square" lIns="0" tIns="0" rIns="0" bIns="0" rtlCol="0" anchor="ctr"/>
          <a:lstStyle/>
          <a:p>
            <a:pPr marL="0" indent="0">
              <a:lnSpc>
                <a:spcPct val="140000"/>
              </a:lnSpc>
              <a:buNone/>
            </a:pPr>
            <a:r>
              <a:rPr lang="en-US" sz="1250" b="1" dirty="0">
                <a:solidFill>
                  <a:srgbClr val="8BAFD4"/>
                </a:solidFill>
                <a:latin typeface="Arial" pitchFamily="34" charset="0"/>
                <a:ea typeface="Arial" pitchFamily="34" charset="-122"/>
                <a:cs typeface="Arial" pitchFamily="34" charset="-120"/>
              </a:rPr>
              <a:t>We tested the model on data where the answers were HIDDEN.</a:t>
            </a:r>
            <a:endParaRPr lang="en-US" sz="1250" dirty="0"/>
          </a:p>
          <a:p>
            <a:pPr marL="0" indent="0">
              <a:lnSpc>
                <a:spcPct val="140000"/>
              </a:lnSpc>
              <a:buNone/>
            </a:pPr>
            <a:r>
              <a:rPr lang="en-US" sz="1250" dirty="0">
                <a:solidFill>
                  <a:srgbClr val="8BAFD4"/>
                </a:solidFill>
                <a:latin typeface="Arial" pitchFamily="34" charset="0"/>
                <a:ea typeface="Arial" pitchFamily="34" charset="-122"/>
                <a:cs typeface="Arial" pitchFamily="34" charset="-120"/>
              </a:rPr>
              <a:t>On this unseen test data it scored ROC-AUC 0.87 — almost the same as on training data.</a:t>
            </a:r>
            <a:endParaRPr lang="en-US" sz="1250" dirty="0"/>
          </a:p>
          <a:p>
            <a:pPr marL="0" indent="0">
              <a:lnSpc>
                <a:spcPct val="140000"/>
              </a:lnSpc>
              <a:buNone/>
            </a:pPr>
            <a:r>
              <a:rPr lang="en-US" sz="1250" i="1" dirty="0">
                <a:solidFill>
                  <a:srgbClr val="8BAFD4"/>
                </a:solidFill>
                <a:latin typeface="Arial" pitchFamily="34" charset="0"/>
                <a:ea typeface="Arial" pitchFamily="34" charset="-122"/>
                <a:cs typeface="Arial" pitchFamily="34" charset="-120"/>
              </a:rPr>
              <a:t>If it were merely copying the answer sheet, it would fail on unseen data. Strong unseen performance proves it learned genuine behaviour patterns.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320040"/>
          </a:xfrm>
          <a:prstGeom prst="rect">
            <a:avLst/>
          </a:prstGeom>
          <a:noFill/>
          <a:ln/>
        </p:spPr>
        <p:txBody>
          <a:bodyPr wrap="square" lIns="0" tIns="0" rIns="0" bIns="0" rtlCol="0" anchor="ctr"/>
          <a:lstStyle/>
          <a:p>
            <a:pPr marL="0" indent="0" algn="ctr">
              <a:buNone/>
            </a:pPr>
            <a:r>
              <a:rPr lang="en-US" sz="1100" b="1" kern="0" spc="300" dirty="0">
                <a:solidFill>
                  <a:srgbClr val="00B4D8"/>
                </a:solidFill>
                <a:latin typeface="Arial" pitchFamily="34" charset="0"/>
                <a:ea typeface="Arial" pitchFamily="34" charset="-122"/>
                <a:cs typeface="Arial" pitchFamily="34" charset="-120"/>
              </a:rPr>
              <a:t>KEY FINDING</a:t>
            </a:r>
            <a:endParaRPr lang="en-US" sz="1100" dirty="0"/>
          </a:p>
        </p:txBody>
      </p:sp>
      <p:sp>
        <p:nvSpPr>
          <p:cNvPr id="3" name="Text 1"/>
          <p:cNvSpPr/>
          <p:nvPr/>
        </p:nvSpPr>
        <p:spPr>
          <a:xfrm>
            <a:off x="457200" y="585216"/>
            <a:ext cx="82296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What Best Predicts an Insider Threat?</a:t>
            </a:r>
            <a:endParaRPr lang="en-US" sz="2000" dirty="0"/>
          </a:p>
        </p:txBody>
      </p:sp>
      <p:sp>
        <p:nvSpPr>
          <p:cNvPr id="4" name="Shape 2"/>
          <p:cNvSpPr/>
          <p:nvPr/>
        </p:nvSpPr>
        <p:spPr>
          <a:xfrm>
            <a:off x="457200" y="1371600"/>
            <a:ext cx="640080" cy="502920"/>
          </a:xfrm>
          <a:prstGeom prst="rect">
            <a:avLst/>
          </a:prstGeom>
          <a:solidFill>
            <a:srgbClr val="00B4D8"/>
          </a:solidFill>
          <a:ln/>
        </p:spPr>
        <p:txBody>
          <a:bodyPr/>
          <a:lstStyle/>
          <a:p>
            <a:endParaRPr lang="en-IN"/>
          </a:p>
        </p:txBody>
      </p:sp>
      <p:sp>
        <p:nvSpPr>
          <p:cNvPr id="5" name="Text 3"/>
          <p:cNvSpPr/>
          <p:nvPr/>
        </p:nvSpPr>
        <p:spPr>
          <a:xfrm>
            <a:off x="457200" y="1371600"/>
            <a:ext cx="640080" cy="502920"/>
          </a:xfrm>
          <a:prstGeom prst="rect">
            <a:avLst/>
          </a:prstGeom>
          <a:noFill/>
          <a:ln/>
        </p:spPr>
        <p:txBody>
          <a:bodyPr wrap="square" lIns="0" tIns="0" rIns="0" bIns="0" rtlCol="0" anchor="ctr"/>
          <a:lstStyle/>
          <a:p>
            <a:pPr marL="0" indent="0" algn="ctr">
              <a:buNone/>
            </a:pPr>
            <a:r>
              <a:rPr lang="en-US" sz="1600" b="1" dirty="0">
                <a:solidFill>
                  <a:srgbClr val="0D1B2A"/>
                </a:solidFill>
                <a:latin typeface="Arial" pitchFamily="34" charset="0"/>
                <a:ea typeface="Arial" pitchFamily="34" charset="-122"/>
                <a:cs typeface="Arial" pitchFamily="34" charset="-120"/>
              </a:rPr>
              <a:t>#1</a:t>
            </a:r>
            <a:endParaRPr lang="en-US" sz="1600" dirty="0"/>
          </a:p>
        </p:txBody>
      </p:sp>
      <p:sp>
        <p:nvSpPr>
          <p:cNvPr id="6" name="Shape 4"/>
          <p:cNvSpPr/>
          <p:nvPr/>
        </p:nvSpPr>
        <p:spPr>
          <a:xfrm>
            <a:off x="1234440" y="1371600"/>
            <a:ext cx="6583680" cy="502920"/>
          </a:xfrm>
          <a:prstGeom prst="rect">
            <a:avLst/>
          </a:prstGeom>
          <a:solidFill>
            <a:srgbClr val="1B2A4A"/>
          </a:solidFill>
          <a:ln/>
        </p:spPr>
        <p:txBody>
          <a:bodyPr/>
          <a:lstStyle/>
          <a:p>
            <a:endParaRPr lang="en-IN"/>
          </a:p>
        </p:txBody>
      </p:sp>
      <p:sp>
        <p:nvSpPr>
          <p:cNvPr id="7" name="Text 5"/>
          <p:cNvSpPr/>
          <p:nvPr/>
        </p:nvSpPr>
        <p:spPr>
          <a:xfrm>
            <a:off x="1371600" y="1371600"/>
            <a:ext cx="59436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files_copied_usb</a:t>
            </a:r>
            <a:endParaRPr lang="en-US" sz="1300" dirty="0"/>
          </a:p>
        </p:txBody>
      </p:sp>
      <p:sp>
        <p:nvSpPr>
          <p:cNvPr id="8" name="Shape 6"/>
          <p:cNvSpPr/>
          <p:nvPr/>
        </p:nvSpPr>
        <p:spPr>
          <a:xfrm>
            <a:off x="457200" y="1993392"/>
            <a:ext cx="640080" cy="502920"/>
          </a:xfrm>
          <a:prstGeom prst="rect">
            <a:avLst/>
          </a:prstGeom>
          <a:solidFill>
            <a:srgbClr val="00B4D8"/>
          </a:solidFill>
          <a:ln/>
        </p:spPr>
        <p:txBody>
          <a:bodyPr/>
          <a:lstStyle/>
          <a:p>
            <a:endParaRPr lang="en-IN"/>
          </a:p>
        </p:txBody>
      </p:sp>
      <p:sp>
        <p:nvSpPr>
          <p:cNvPr id="9" name="Text 7"/>
          <p:cNvSpPr/>
          <p:nvPr/>
        </p:nvSpPr>
        <p:spPr>
          <a:xfrm>
            <a:off x="457200" y="1993392"/>
            <a:ext cx="640080" cy="502920"/>
          </a:xfrm>
          <a:prstGeom prst="rect">
            <a:avLst/>
          </a:prstGeom>
          <a:noFill/>
          <a:ln/>
        </p:spPr>
        <p:txBody>
          <a:bodyPr wrap="square" lIns="0" tIns="0" rIns="0" bIns="0" rtlCol="0" anchor="ctr"/>
          <a:lstStyle/>
          <a:p>
            <a:pPr marL="0" indent="0" algn="ctr">
              <a:buNone/>
            </a:pPr>
            <a:r>
              <a:rPr lang="en-US" sz="1600" b="1" dirty="0">
                <a:solidFill>
                  <a:srgbClr val="0D1B2A"/>
                </a:solidFill>
                <a:latin typeface="Arial" pitchFamily="34" charset="0"/>
                <a:ea typeface="Arial" pitchFamily="34" charset="-122"/>
                <a:cs typeface="Arial" pitchFamily="34" charset="-120"/>
              </a:rPr>
              <a:t>#2</a:t>
            </a:r>
            <a:endParaRPr lang="en-US" sz="1600" dirty="0"/>
          </a:p>
        </p:txBody>
      </p:sp>
      <p:sp>
        <p:nvSpPr>
          <p:cNvPr id="10" name="Shape 8"/>
          <p:cNvSpPr/>
          <p:nvPr/>
        </p:nvSpPr>
        <p:spPr>
          <a:xfrm>
            <a:off x="1234440" y="1993392"/>
            <a:ext cx="5793638" cy="502920"/>
          </a:xfrm>
          <a:prstGeom prst="rect">
            <a:avLst/>
          </a:prstGeom>
          <a:solidFill>
            <a:srgbClr val="1B2A4A"/>
          </a:solidFill>
          <a:ln/>
        </p:spPr>
        <p:txBody>
          <a:bodyPr/>
          <a:lstStyle/>
          <a:p>
            <a:endParaRPr lang="en-IN"/>
          </a:p>
        </p:txBody>
      </p:sp>
      <p:sp>
        <p:nvSpPr>
          <p:cNvPr id="11" name="Text 9"/>
          <p:cNvSpPr/>
          <p:nvPr/>
        </p:nvSpPr>
        <p:spPr>
          <a:xfrm>
            <a:off x="1371600" y="1993392"/>
            <a:ext cx="59436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delta_files_copied_usb</a:t>
            </a:r>
            <a:endParaRPr lang="en-US" sz="1300" dirty="0"/>
          </a:p>
        </p:txBody>
      </p:sp>
      <p:sp>
        <p:nvSpPr>
          <p:cNvPr id="12" name="Shape 10"/>
          <p:cNvSpPr/>
          <p:nvPr/>
        </p:nvSpPr>
        <p:spPr>
          <a:xfrm>
            <a:off x="457200" y="2615184"/>
            <a:ext cx="640080" cy="502920"/>
          </a:xfrm>
          <a:prstGeom prst="rect">
            <a:avLst/>
          </a:prstGeom>
          <a:solidFill>
            <a:srgbClr val="00B4D8"/>
          </a:solidFill>
          <a:ln/>
        </p:spPr>
        <p:txBody>
          <a:bodyPr/>
          <a:lstStyle/>
          <a:p>
            <a:endParaRPr lang="en-IN"/>
          </a:p>
        </p:txBody>
      </p:sp>
      <p:sp>
        <p:nvSpPr>
          <p:cNvPr id="13" name="Text 11"/>
          <p:cNvSpPr/>
          <p:nvPr/>
        </p:nvSpPr>
        <p:spPr>
          <a:xfrm>
            <a:off x="457200" y="2615184"/>
            <a:ext cx="640080" cy="502920"/>
          </a:xfrm>
          <a:prstGeom prst="rect">
            <a:avLst/>
          </a:prstGeom>
          <a:noFill/>
          <a:ln/>
        </p:spPr>
        <p:txBody>
          <a:bodyPr wrap="square" lIns="0" tIns="0" rIns="0" bIns="0" rtlCol="0" anchor="ctr"/>
          <a:lstStyle/>
          <a:p>
            <a:pPr marL="0" indent="0" algn="ctr">
              <a:buNone/>
            </a:pPr>
            <a:r>
              <a:rPr lang="en-US" sz="1600" b="1" dirty="0">
                <a:solidFill>
                  <a:srgbClr val="0D1B2A"/>
                </a:solidFill>
                <a:latin typeface="Arial" pitchFamily="34" charset="0"/>
                <a:ea typeface="Arial" pitchFamily="34" charset="-122"/>
                <a:cs typeface="Arial" pitchFamily="34" charset="-120"/>
              </a:rPr>
              <a:t>#3</a:t>
            </a:r>
            <a:endParaRPr lang="en-US" sz="1600" dirty="0"/>
          </a:p>
        </p:txBody>
      </p:sp>
      <p:sp>
        <p:nvSpPr>
          <p:cNvPr id="14" name="Shape 12"/>
          <p:cNvSpPr/>
          <p:nvPr/>
        </p:nvSpPr>
        <p:spPr>
          <a:xfrm>
            <a:off x="1234440" y="2615184"/>
            <a:ext cx="4740250" cy="502920"/>
          </a:xfrm>
          <a:prstGeom prst="rect">
            <a:avLst/>
          </a:prstGeom>
          <a:solidFill>
            <a:srgbClr val="1B2A4A"/>
          </a:solidFill>
          <a:ln/>
        </p:spPr>
        <p:txBody>
          <a:bodyPr/>
          <a:lstStyle/>
          <a:p>
            <a:endParaRPr lang="en-IN"/>
          </a:p>
        </p:txBody>
      </p:sp>
      <p:sp>
        <p:nvSpPr>
          <p:cNvPr id="15" name="Text 13"/>
          <p:cNvSpPr/>
          <p:nvPr/>
        </p:nvSpPr>
        <p:spPr>
          <a:xfrm>
            <a:off x="1371600" y="2615184"/>
            <a:ext cx="59436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delta_files_accessed</a:t>
            </a:r>
            <a:endParaRPr lang="en-US" sz="1300" dirty="0"/>
          </a:p>
        </p:txBody>
      </p:sp>
      <p:sp>
        <p:nvSpPr>
          <p:cNvPr id="16" name="Shape 14"/>
          <p:cNvSpPr/>
          <p:nvPr/>
        </p:nvSpPr>
        <p:spPr>
          <a:xfrm>
            <a:off x="457200" y="3236976"/>
            <a:ext cx="640080" cy="502920"/>
          </a:xfrm>
          <a:prstGeom prst="rect">
            <a:avLst/>
          </a:prstGeom>
          <a:solidFill>
            <a:srgbClr val="00B4D8"/>
          </a:solidFill>
          <a:ln/>
        </p:spPr>
        <p:txBody>
          <a:bodyPr/>
          <a:lstStyle/>
          <a:p>
            <a:endParaRPr lang="en-IN"/>
          </a:p>
        </p:txBody>
      </p:sp>
      <p:sp>
        <p:nvSpPr>
          <p:cNvPr id="17" name="Text 15"/>
          <p:cNvSpPr/>
          <p:nvPr/>
        </p:nvSpPr>
        <p:spPr>
          <a:xfrm>
            <a:off x="457200" y="3236976"/>
            <a:ext cx="640080" cy="502920"/>
          </a:xfrm>
          <a:prstGeom prst="rect">
            <a:avLst/>
          </a:prstGeom>
          <a:noFill/>
          <a:ln/>
        </p:spPr>
        <p:txBody>
          <a:bodyPr wrap="square" lIns="0" tIns="0" rIns="0" bIns="0" rtlCol="0" anchor="ctr"/>
          <a:lstStyle/>
          <a:p>
            <a:pPr marL="0" indent="0" algn="ctr">
              <a:buNone/>
            </a:pPr>
            <a:r>
              <a:rPr lang="en-US" sz="1600" b="1" dirty="0">
                <a:solidFill>
                  <a:srgbClr val="0D1B2A"/>
                </a:solidFill>
                <a:latin typeface="Arial" pitchFamily="34" charset="0"/>
                <a:ea typeface="Arial" pitchFamily="34" charset="-122"/>
                <a:cs typeface="Arial" pitchFamily="34" charset="-120"/>
              </a:rPr>
              <a:t>#4</a:t>
            </a:r>
            <a:endParaRPr lang="en-US" sz="1600" dirty="0"/>
          </a:p>
        </p:txBody>
      </p:sp>
      <p:sp>
        <p:nvSpPr>
          <p:cNvPr id="18" name="Shape 16"/>
          <p:cNvSpPr/>
          <p:nvPr/>
        </p:nvSpPr>
        <p:spPr>
          <a:xfrm>
            <a:off x="1234440" y="3236976"/>
            <a:ext cx="4476902" cy="502920"/>
          </a:xfrm>
          <a:prstGeom prst="rect">
            <a:avLst/>
          </a:prstGeom>
          <a:solidFill>
            <a:srgbClr val="1B2A4A"/>
          </a:solidFill>
          <a:ln/>
        </p:spPr>
        <p:txBody>
          <a:bodyPr/>
          <a:lstStyle/>
          <a:p>
            <a:endParaRPr lang="en-IN"/>
          </a:p>
        </p:txBody>
      </p:sp>
      <p:sp>
        <p:nvSpPr>
          <p:cNvPr id="19" name="Text 17"/>
          <p:cNvSpPr/>
          <p:nvPr/>
        </p:nvSpPr>
        <p:spPr>
          <a:xfrm>
            <a:off x="1371600" y="3236976"/>
            <a:ext cx="59436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files_accessed</a:t>
            </a:r>
            <a:endParaRPr lang="en-US" sz="1300" dirty="0"/>
          </a:p>
        </p:txBody>
      </p:sp>
      <p:sp>
        <p:nvSpPr>
          <p:cNvPr id="20" name="Shape 18"/>
          <p:cNvSpPr/>
          <p:nvPr/>
        </p:nvSpPr>
        <p:spPr>
          <a:xfrm>
            <a:off x="457200" y="3858768"/>
            <a:ext cx="640080" cy="502920"/>
          </a:xfrm>
          <a:prstGeom prst="rect">
            <a:avLst/>
          </a:prstGeom>
          <a:solidFill>
            <a:srgbClr val="00B4D8"/>
          </a:solidFill>
          <a:ln/>
        </p:spPr>
        <p:txBody>
          <a:bodyPr/>
          <a:lstStyle/>
          <a:p>
            <a:endParaRPr lang="en-IN"/>
          </a:p>
        </p:txBody>
      </p:sp>
      <p:sp>
        <p:nvSpPr>
          <p:cNvPr id="21" name="Text 19"/>
          <p:cNvSpPr/>
          <p:nvPr/>
        </p:nvSpPr>
        <p:spPr>
          <a:xfrm>
            <a:off x="457200" y="3858768"/>
            <a:ext cx="640080" cy="502920"/>
          </a:xfrm>
          <a:prstGeom prst="rect">
            <a:avLst/>
          </a:prstGeom>
          <a:noFill/>
          <a:ln/>
        </p:spPr>
        <p:txBody>
          <a:bodyPr wrap="square" lIns="0" tIns="0" rIns="0" bIns="0" rtlCol="0" anchor="ctr"/>
          <a:lstStyle/>
          <a:p>
            <a:pPr marL="0" indent="0" algn="ctr">
              <a:buNone/>
            </a:pPr>
            <a:r>
              <a:rPr lang="en-US" sz="1600" b="1" dirty="0">
                <a:solidFill>
                  <a:srgbClr val="0D1B2A"/>
                </a:solidFill>
                <a:latin typeface="Arial" pitchFamily="34" charset="0"/>
                <a:ea typeface="Arial" pitchFamily="34" charset="-122"/>
                <a:cs typeface="Arial" pitchFamily="34" charset="-120"/>
              </a:rPr>
              <a:t>#5</a:t>
            </a:r>
            <a:endParaRPr lang="en-US" sz="1600" dirty="0"/>
          </a:p>
        </p:txBody>
      </p:sp>
      <p:sp>
        <p:nvSpPr>
          <p:cNvPr id="22" name="Shape 20"/>
          <p:cNvSpPr/>
          <p:nvPr/>
        </p:nvSpPr>
        <p:spPr>
          <a:xfrm>
            <a:off x="1234440" y="3858768"/>
            <a:ext cx="2633472" cy="502920"/>
          </a:xfrm>
          <a:prstGeom prst="rect">
            <a:avLst/>
          </a:prstGeom>
          <a:solidFill>
            <a:srgbClr val="1B2A4A"/>
          </a:solidFill>
          <a:ln/>
        </p:spPr>
        <p:txBody>
          <a:bodyPr/>
          <a:lstStyle/>
          <a:p>
            <a:endParaRPr lang="en-IN"/>
          </a:p>
        </p:txBody>
      </p:sp>
      <p:sp>
        <p:nvSpPr>
          <p:cNvPr id="23" name="Text 21"/>
          <p:cNvSpPr/>
          <p:nvPr/>
        </p:nvSpPr>
        <p:spPr>
          <a:xfrm>
            <a:off x="1371600" y="3858768"/>
            <a:ext cx="594360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delta_login_count</a:t>
            </a:r>
            <a:endParaRPr lang="en-US" sz="1300" dirty="0"/>
          </a:p>
        </p:txBody>
      </p:sp>
      <p:sp>
        <p:nvSpPr>
          <p:cNvPr id="24" name="Shape 22"/>
          <p:cNvSpPr/>
          <p:nvPr/>
        </p:nvSpPr>
        <p:spPr>
          <a:xfrm>
            <a:off x="457200" y="4526280"/>
            <a:ext cx="8229600" cy="457200"/>
          </a:xfrm>
          <a:prstGeom prst="rect">
            <a:avLst/>
          </a:prstGeom>
          <a:solidFill>
            <a:srgbClr val="0A2540"/>
          </a:solidFill>
          <a:ln/>
        </p:spPr>
        <p:txBody>
          <a:bodyPr/>
          <a:lstStyle/>
          <a:p>
            <a:endParaRPr lang="en-IN"/>
          </a:p>
        </p:txBody>
      </p:sp>
      <p:sp>
        <p:nvSpPr>
          <p:cNvPr id="25" name="Text 23"/>
          <p:cNvSpPr/>
          <p:nvPr/>
        </p:nvSpPr>
        <p:spPr>
          <a:xfrm>
            <a:off x="548640" y="4526280"/>
            <a:ext cx="8046720" cy="457200"/>
          </a:xfrm>
          <a:prstGeom prst="rect">
            <a:avLst/>
          </a:prstGeom>
          <a:noFill/>
          <a:ln/>
        </p:spPr>
        <p:txBody>
          <a:bodyPr wrap="square" lIns="0" tIns="0" rIns="0" bIns="0" rtlCol="0" anchor="ctr"/>
          <a:lstStyle/>
          <a:p>
            <a:pPr marL="0" indent="0" algn="ctr">
              <a:buNone/>
            </a:pPr>
            <a:r>
              <a:rPr lang="en-US" sz="1200" dirty="0">
                <a:solidFill>
                  <a:srgbClr val="00B4D8"/>
                </a:solidFill>
                <a:latin typeface="Arial" pitchFamily="34" charset="0"/>
                <a:ea typeface="Arial" pitchFamily="34" charset="-122"/>
                <a:cs typeface="Arial" pitchFamily="34" charset="-120"/>
              </a:rPr>
              <a:t>4 of the top 5 signals relate to FILE ACTIVITY — confirming insider threats are primarily about data exfiltration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lIns="0" tIns="0" rIns="0" bIns="0" rtlCol="0" anchor="ctr"/>
          <a:lstStyle/>
          <a:p>
            <a:pPr marL="0" indent="0" algn="ctr">
              <a:buNone/>
            </a:pPr>
            <a:r>
              <a:rPr lang="en-US" sz="1100" b="1" kern="0" spc="300" dirty="0">
                <a:solidFill>
                  <a:srgbClr val="00B4D8"/>
                </a:solidFill>
                <a:latin typeface="Arial" pitchFamily="34" charset="0"/>
                <a:ea typeface="Arial" pitchFamily="34" charset="-122"/>
                <a:cs typeface="Arial" pitchFamily="34" charset="-120"/>
              </a:rPr>
              <a:t>PROJECT SUMMARY</a:t>
            </a:r>
            <a:endParaRPr lang="en-US" sz="1100" dirty="0"/>
          </a:p>
        </p:txBody>
      </p:sp>
      <p:sp>
        <p:nvSpPr>
          <p:cNvPr id="3" name="Text 1"/>
          <p:cNvSpPr/>
          <p:nvPr/>
        </p:nvSpPr>
        <p:spPr>
          <a:xfrm>
            <a:off x="457200" y="603504"/>
            <a:ext cx="82296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What We Built &amp; What We Found</a:t>
            </a:r>
            <a:endParaRPr lang="en-US" sz="2000" dirty="0"/>
          </a:p>
        </p:txBody>
      </p:sp>
      <p:sp>
        <p:nvSpPr>
          <p:cNvPr id="4" name="Shape 2"/>
          <p:cNvSpPr/>
          <p:nvPr/>
        </p:nvSpPr>
        <p:spPr>
          <a:xfrm>
            <a:off x="457200" y="1325880"/>
            <a:ext cx="8229600" cy="50292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5" name="Shape 3"/>
          <p:cNvSpPr/>
          <p:nvPr/>
        </p:nvSpPr>
        <p:spPr>
          <a:xfrm>
            <a:off x="658368" y="1481328"/>
            <a:ext cx="182880" cy="182880"/>
          </a:xfrm>
          <a:prstGeom prst="ellipse">
            <a:avLst/>
          </a:prstGeom>
          <a:solidFill>
            <a:srgbClr val="10B981"/>
          </a:solidFill>
          <a:ln/>
        </p:spPr>
        <p:txBody>
          <a:bodyPr/>
          <a:lstStyle/>
          <a:p>
            <a:endParaRPr lang="en-IN"/>
          </a:p>
        </p:txBody>
      </p:sp>
      <p:sp>
        <p:nvSpPr>
          <p:cNvPr id="6" name="Text 4"/>
          <p:cNvSpPr/>
          <p:nvPr/>
        </p:nvSpPr>
        <p:spPr>
          <a:xfrm>
            <a:off x="960120" y="1325880"/>
            <a:ext cx="29260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Real CERT data</a:t>
            </a:r>
            <a:endParaRPr lang="en-US" sz="1300" dirty="0"/>
          </a:p>
        </p:txBody>
      </p:sp>
      <p:sp>
        <p:nvSpPr>
          <p:cNvPr id="7" name="Text 5"/>
          <p:cNvSpPr/>
          <p:nvPr/>
        </p:nvSpPr>
        <p:spPr>
          <a:xfrm>
            <a:off x="3931920" y="1325880"/>
            <a:ext cx="4663440" cy="502920"/>
          </a:xfrm>
          <a:prstGeom prst="rect">
            <a:avLst/>
          </a:prstGeom>
          <a:noFill/>
          <a:ln/>
        </p:spPr>
        <p:txBody>
          <a:bodyPr wrap="square" lIns="0" tIns="0" rIns="0" bIns="0" rtlCol="0" anchor="ctr"/>
          <a:lstStyle/>
          <a:p>
            <a:pPr marL="0" indent="0">
              <a:buNone/>
            </a:pPr>
            <a:r>
              <a:rPr lang="en-US" sz="1200" dirty="0">
                <a:solidFill>
                  <a:srgbClr val="8BAFD4"/>
                </a:solidFill>
                <a:latin typeface="Arial" pitchFamily="34" charset="0"/>
                <a:ea typeface="Arial" pitchFamily="34" charset="-122"/>
                <a:cs typeface="Arial" pitchFamily="34" charset="-120"/>
              </a:rPr>
              <a:t>330,268 records, 1,000 users, 7 real features</a:t>
            </a:r>
            <a:endParaRPr lang="en-US" sz="1200" dirty="0"/>
          </a:p>
        </p:txBody>
      </p:sp>
      <p:sp>
        <p:nvSpPr>
          <p:cNvPr id="8" name="Shape 6"/>
          <p:cNvSpPr/>
          <p:nvPr/>
        </p:nvSpPr>
        <p:spPr>
          <a:xfrm>
            <a:off x="457200" y="1901952"/>
            <a:ext cx="8229600" cy="50292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9" name="Shape 7"/>
          <p:cNvSpPr/>
          <p:nvPr/>
        </p:nvSpPr>
        <p:spPr>
          <a:xfrm>
            <a:off x="658368" y="2057400"/>
            <a:ext cx="182880" cy="182880"/>
          </a:xfrm>
          <a:prstGeom prst="ellipse">
            <a:avLst/>
          </a:prstGeom>
          <a:solidFill>
            <a:srgbClr val="10B981"/>
          </a:solidFill>
          <a:ln/>
        </p:spPr>
        <p:txBody>
          <a:bodyPr/>
          <a:lstStyle/>
          <a:p>
            <a:endParaRPr lang="en-IN"/>
          </a:p>
        </p:txBody>
      </p:sp>
      <p:sp>
        <p:nvSpPr>
          <p:cNvPr id="10" name="Text 8"/>
          <p:cNvSpPr/>
          <p:nvPr/>
        </p:nvSpPr>
        <p:spPr>
          <a:xfrm>
            <a:off x="960120" y="1901952"/>
            <a:ext cx="29260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Unsupervised detection</a:t>
            </a:r>
            <a:endParaRPr lang="en-US" sz="1300" dirty="0"/>
          </a:p>
        </p:txBody>
      </p:sp>
      <p:sp>
        <p:nvSpPr>
          <p:cNvPr id="11" name="Text 9"/>
          <p:cNvSpPr/>
          <p:nvPr/>
        </p:nvSpPr>
        <p:spPr>
          <a:xfrm>
            <a:off x="3931920" y="1901952"/>
            <a:ext cx="4663440" cy="502920"/>
          </a:xfrm>
          <a:prstGeom prst="rect">
            <a:avLst/>
          </a:prstGeom>
          <a:noFill/>
          <a:ln/>
        </p:spPr>
        <p:txBody>
          <a:bodyPr wrap="square" lIns="0" tIns="0" rIns="0" bIns="0" rtlCol="0" anchor="ctr"/>
          <a:lstStyle/>
          <a:p>
            <a:pPr marL="0" indent="0">
              <a:buNone/>
            </a:pPr>
            <a:r>
              <a:rPr lang="en-US" sz="1200" dirty="0">
                <a:solidFill>
                  <a:srgbClr val="8BAFD4"/>
                </a:solidFill>
                <a:latin typeface="Arial" pitchFamily="34" charset="0"/>
                <a:ea typeface="Arial" pitchFamily="34" charset="-122"/>
                <a:cs typeface="Arial" pitchFamily="34" charset="-120"/>
              </a:rPr>
              <a:t>Isolation Forest + LOF, ~2% flagged, models agree</a:t>
            </a:r>
            <a:endParaRPr lang="en-US" sz="1200" dirty="0"/>
          </a:p>
        </p:txBody>
      </p:sp>
      <p:sp>
        <p:nvSpPr>
          <p:cNvPr id="12" name="Shape 10"/>
          <p:cNvSpPr/>
          <p:nvPr/>
        </p:nvSpPr>
        <p:spPr>
          <a:xfrm>
            <a:off x="457200" y="2478024"/>
            <a:ext cx="8229600" cy="50292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13" name="Shape 11"/>
          <p:cNvSpPr/>
          <p:nvPr/>
        </p:nvSpPr>
        <p:spPr>
          <a:xfrm>
            <a:off x="658368" y="2633472"/>
            <a:ext cx="182880" cy="182880"/>
          </a:xfrm>
          <a:prstGeom prst="ellipse">
            <a:avLst/>
          </a:prstGeom>
          <a:solidFill>
            <a:srgbClr val="10B981"/>
          </a:solidFill>
          <a:ln/>
        </p:spPr>
        <p:txBody>
          <a:bodyPr/>
          <a:lstStyle/>
          <a:p>
            <a:endParaRPr lang="en-IN"/>
          </a:p>
        </p:txBody>
      </p:sp>
      <p:sp>
        <p:nvSpPr>
          <p:cNvPr id="14" name="Text 12"/>
          <p:cNvSpPr/>
          <p:nvPr/>
        </p:nvSpPr>
        <p:spPr>
          <a:xfrm>
            <a:off x="960120" y="2478024"/>
            <a:ext cx="29260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Supervised classification</a:t>
            </a:r>
            <a:endParaRPr lang="en-US" sz="1300" dirty="0"/>
          </a:p>
        </p:txBody>
      </p:sp>
      <p:sp>
        <p:nvSpPr>
          <p:cNvPr id="15" name="Text 13"/>
          <p:cNvSpPr/>
          <p:nvPr/>
        </p:nvSpPr>
        <p:spPr>
          <a:xfrm>
            <a:off x="3931920" y="2478024"/>
            <a:ext cx="4663440" cy="502920"/>
          </a:xfrm>
          <a:prstGeom prst="rect">
            <a:avLst/>
          </a:prstGeom>
          <a:noFill/>
          <a:ln/>
        </p:spPr>
        <p:txBody>
          <a:bodyPr wrap="square" lIns="0" tIns="0" rIns="0" bIns="0" rtlCol="0" anchor="ctr"/>
          <a:lstStyle/>
          <a:p>
            <a:pPr marL="0" indent="0">
              <a:buNone/>
            </a:pPr>
            <a:r>
              <a:rPr lang="en-US" sz="1200" dirty="0">
                <a:solidFill>
                  <a:srgbClr val="8BAFD4"/>
                </a:solidFill>
                <a:latin typeface="Arial" pitchFamily="34" charset="0"/>
                <a:ea typeface="Arial" pitchFamily="34" charset="-122"/>
                <a:cs typeface="Arial" pitchFamily="34" charset="-120"/>
              </a:rPr>
              <a:t>Random Forest: ROC-AUC 0.88, 95% precision</a:t>
            </a:r>
            <a:endParaRPr lang="en-US" sz="1200" dirty="0"/>
          </a:p>
        </p:txBody>
      </p:sp>
      <p:sp>
        <p:nvSpPr>
          <p:cNvPr id="16" name="Shape 14"/>
          <p:cNvSpPr/>
          <p:nvPr/>
        </p:nvSpPr>
        <p:spPr>
          <a:xfrm>
            <a:off x="457200" y="3054096"/>
            <a:ext cx="8229600" cy="50292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17" name="Shape 15"/>
          <p:cNvSpPr/>
          <p:nvPr/>
        </p:nvSpPr>
        <p:spPr>
          <a:xfrm>
            <a:off x="658368" y="3209544"/>
            <a:ext cx="182880" cy="182880"/>
          </a:xfrm>
          <a:prstGeom prst="ellipse">
            <a:avLst/>
          </a:prstGeom>
          <a:solidFill>
            <a:srgbClr val="10B981"/>
          </a:solidFill>
          <a:ln/>
        </p:spPr>
        <p:txBody>
          <a:bodyPr/>
          <a:lstStyle/>
          <a:p>
            <a:endParaRPr lang="en-IN"/>
          </a:p>
        </p:txBody>
      </p:sp>
      <p:sp>
        <p:nvSpPr>
          <p:cNvPr id="18" name="Text 16"/>
          <p:cNvSpPr/>
          <p:nvPr/>
        </p:nvSpPr>
        <p:spPr>
          <a:xfrm>
            <a:off x="960120" y="3054096"/>
            <a:ext cx="29260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Validated results</a:t>
            </a:r>
            <a:endParaRPr lang="en-US" sz="1300" dirty="0"/>
          </a:p>
        </p:txBody>
      </p:sp>
      <p:sp>
        <p:nvSpPr>
          <p:cNvPr id="19" name="Text 17"/>
          <p:cNvSpPr/>
          <p:nvPr/>
        </p:nvSpPr>
        <p:spPr>
          <a:xfrm>
            <a:off x="3931920" y="3054096"/>
            <a:ext cx="4663440" cy="502920"/>
          </a:xfrm>
          <a:prstGeom prst="rect">
            <a:avLst/>
          </a:prstGeom>
          <a:noFill/>
          <a:ln/>
        </p:spPr>
        <p:txBody>
          <a:bodyPr wrap="square" lIns="0" tIns="0" rIns="0" bIns="0" rtlCol="0" anchor="ctr"/>
          <a:lstStyle/>
          <a:p>
            <a:pPr marL="0" indent="0">
              <a:buNone/>
            </a:pPr>
            <a:r>
              <a:rPr lang="en-US" sz="1200" dirty="0">
                <a:solidFill>
                  <a:srgbClr val="8BAFD4"/>
                </a:solidFill>
                <a:latin typeface="Arial" pitchFamily="34" charset="0"/>
                <a:ea typeface="Arial" pitchFamily="34" charset="-122"/>
                <a:cs typeface="Arial" pitchFamily="34" charset="-120"/>
              </a:rPr>
              <a:t>70 of 191 real insiders caught, only 2 false alarms</a:t>
            </a:r>
            <a:endParaRPr lang="en-US" sz="1200" dirty="0"/>
          </a:p>
        </p:txBody>
      </p:sp>
      <p:sp>
        <p:nvSpPr>
          <p:cNvPr id="20" name="Shape 18"/>
          <p:cNvSpPr/>
          <p:nvPr/>
        </p:nvSpPr>
        <p:spPr>
          <a:xfrm>
            <a:off x="457200" y="3630168"/>
            <a:ext cx="8229600" cy="50292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21" name="Shape 19"/>
          <p:cNvSpPr/>
          <p:nvPr/>
        </p:nvSpPr>
        <p:spPr>
          <a:xfrm>
            <a:off x="658368" y="3785616"/>
            <a:ext cx="182880" cy="182880"/>
          </a:xfrm>
          <a:prstGeom prst="ellipse">
            <a:avLst/>
          </a:prstGeom>
          <a:solidFill>
            <a:srgbClr val="10B981"/>
          </a:solidFill>
          <a:ln/>
        </p:spPr>
        <p:txBody>
          <a:bodyPr/>
          <a:lstStyle/>
          <a:p>
            <a:endParaRPr lang="en-IN"/>
          </a:p>
        </p:txBody>
      </p:sp>
      <p:sp>
        <p:nvSpPr>
          <p:cNvPr id="22" name="Text 20"/>
          <p:cNvSpPr/>
          <p:nvPr/>
        </p:nvSpPr>
        <p:spPr>
          <a:xfrm>
            <a:off x="960120" y="3630168"/>
            <a:ext cx="29260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Proven learning</a:t>
            </a:r>
            <a:endParaRPr lang="en-US" sz="1300" dirty="0"/>
          </a:p>
        </p:txBody>
      </p:sp>
      <p:sp>
        <p:nvSpPr>
          <p:cNvPr id="23" name="Text 21"/>
          <p:cNvSpPr/>
          <p:nvPr/>
        </p:nvSpPr>
        <p:spPr>
          <a:xfrm>
            <a:off x="3931920" y="3630168"/>
            <a:ext cx="4663440" cy="502920"/>
          </a:xfrm>
          <a:prstGeom prst="rect">
            <a:avLst/>
          </a:prstGeom>
          <a:noFill/>
          <a:ln/>
        </p:spPr>
        <p:txBody>
          <a:bodyPr wrap="square" lIns="0" tIns="0" rIns="0" bIns="0" rtlCol="0" anchor="ctr"/>
          <a:lstStyle/>
          <a:p>
            <a:pPr marL="0" indent="0">
              <a:buNone/>
            </a:pPr>
            <a:r>
              <a:rPr lang="en-US" sz="1200" dirty="0">
                <a:solidFill>
                  <a:srgbClr val="8BAFD4"/>
                </a:solidFill>
                <a:latin typeface="Arial" pitchFamily="34" charset="0"/>
                <a:ea typeface="Arial" pitchFamily="34" charset="-122"/>
                <a:cs typeface="Arial" pitchFamily="34" charset="-120"/>
              </a:rPr>
              <a:t>0.87 on hidden data — learns, not copies</a:t>
            </a:r>
            <a:endParaRPr lang="en-US" sz="1200" dirty="0"/>
          </a:p>
        </p:txBody>
      </p:sp>
      <p:sp>
        <p:nvSpPr>
          <p:cNvPr id="24" name="Shape 22"/>
          <p:cNvSpPr/>
          <p:nvPr/>
        </p:nvSpPr>
        <p:spPr>
          <a:xfrm>
            <a:off x="457200" y="4206240"/>
            <a:ext cx="8229600" cy="502920"/>
          </a:xfrm>
          <a:prstGeom prst="rect">
            <a:avLst/>
          </a:prstGeom>
          <a:solidFill>
            <a:srgbClr val="1B2A4A"/>
          </a:solidFill>
          <a:ln/>
          <a:effectLst>
            <a:outerShdw blurRad="101600" dist="25400" dir="2700000" algn="bl" rotWithShape="0">
              <a:srgbClr val="000000">
                <a:alpha val="10000"/>
              </a:srgbClr>
            </a:outerShdw>
          </a:effectLst>
        </p:spPr>
        <p:txBody>
          <a:bodyPr/>
          <a:lstStyle/>
          <a:p>
            <a:endParaRPr lang="en-IN"/>
          </a:p>
        </p:txBody>
      </p:sp>
      <p:sp>
        <p:nvSpPr>
          <p:cNvPr id="25" name="Shape 23"/>
          <p:cNvSpPr/>
          <p:nvPr/>
        </p:nvSpPr>
        <p:spPr>
          <a:xfrm>
            <a:off x="658368" y="4361688"/>
            <a:ext cx="182880" cy="182880"/>
          </a:xfrm>
          <a:prstGeom prst="ellipse">
            <a:avLst/>
          </a:prstGeom>
          <a:solidFill>
            <a:srgbClr val="10B981"/>
          </a:solidFill>
          <a:ln/>
        </p:spPr>
        <p:txBody>
          <a:bodyPr/>
          <a:lstStyle/>
          <a:p>
            <a:endParaRPr lang="en-IN"/>
          </a:p>
        </p:txBody>
      </p:sp>
      <p:sp>
        <p:nvSpPr>
          <p:cNvPr id="26" name="Text 24"/>
          <p:cNvSpPr/>
          <p:nvPr/>
        </p:nvSpPr>
        <p:spPr>
          <a:xfrm>
            <a:off x="960120" y="4206240"/>
            <a:ext cx="292608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Top threat signal</a:t>
            </a:r>
            <a:endParaRPr lang="en-US" sz="1300" dirty="0"/>
          </a:p>
        </p:txBody>
      </p:sp>
      <p:sp>
        <p:nvSpPr>
          <p:cNvPr id="27" name="Text 25"/>
          <p:cNvSpPr/>
          <p:nvPr/>
        </p:nvSpPr>
        <p:spPr>
          <a:xfrm>
            <a:off x="3931920" y="4206240"/>
            <a:ext cx="4663440" cy="502920"/>
          </a:xfrm>
          <a:prstGeom prst="rect">
            <a:avLst/>
          </a:prstGeom>
          <a:noFill/>
          <a:ln/>
        </p:spPr>
        <p:txBody>
          <a:bodyPr wrap="square" lIns="0" tIns="0" rIns="0" bIns="0" rtlCol="0" anchor="ctr"/>
          <a:lstStyle/>
          <a:p>
            <a:pPr marL="0" indent="0">
              <a:buNone/>
            </a:pPr>
            <a:r>
              <a:rPr lang="en-US" sz="1200" dirty="0">
                <a:solidFill>
                  <a:srgbClr val="8BAFD4"/>
                </a:solidFill>
                <a:latin typeface="Arial" pitchFamily="34" charset="0"/>
                <a:ea typeface="Arial" pitchFamily="34" charset="-122"/>
                <a:cs typeface="Arial" pitchFamily="34" charset="-120"/>
              </a:rPr>
              <a:t>USB file-copying + file access</a:t>
            </a:r>
            <a:endParaRPr lang="en-US" sz="1200" dirty="0"/>
          </a:p>
        </p:txBody>
      </p:sp>
      <p:sp>
        <p:nvSpPr>
          <p:cNvPr id="28" name="Text 26"/>
          <p:cNvSpPr/>
          <p:nvPr/>
        </p:nvSpPr>
        <p:spPr>
          <a:xfrm>
            <a:off x="457200" y="4828032"/>
            <a:ext cx="8229600" cy="274320"/>
          </a:xfrm>
          <a:prstGeom prst="rect">
            <a:avLst/>
          </a:prstGeom>
          <a:noFill/>
          <a:ln/>
        </p:spPr>
        <p:txBody>
          <a:bodyPr wrap="square" lIns="0" tIns="0" rIns="0" bIns="0" rtlCol="0" anchor="ctr"/>
          <a:lstStyle/>
          <a:p>
            <a:pPr marL="0" indent="0" algn="ctr">
              <a:buNone/>
            </a:pPr>
            <a:r>
              <a:rPr lang="en-US" sz="1100" dirty="0">
                <a:solidFill>
                  <a:srgbClr val="00B4D8"/>
                </a:solidFill>
                <a:latin typeface="Arial" pitchFamily="34" charset="0"/>
                <a:ea typeface="Arial" pitchFamily="34" charset="-122"/>
                <a:cs typeface="Arial" pitchFamily="34" charset="-120"/>
              </a:rPr>
              <a:t>Tools: Python · Google Colab · scikit-learn · pandas · matplotlib · seaborn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1416</Words>
  <Application>Microsoft Office PowerPoint</Application>
  <PresentationFormat>On-screen Show (16:9)</PresentationFormat>
  <Paragraphs>179</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Gawade, Swapnil Sunil</cp:lastModifiedBy>
  <cp:revision>2</cp:revision>
  <dcterms:created xsi:type="dcterms:W3CDTF">2026-07-09T20:00:54Z</dcterms:created>
  <dcterms:modified xsi:type="dcterms:W3CDTF">2026-07-09T23:18:02Z</dcterms:modified>
</cp:coreProperties>
</file>